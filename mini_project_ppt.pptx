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69" r:id="rId3"/>
    <p:sldId id="258" r:id="rId4"/>
    <p:sldId id="282" r:id="rId5"/>
    <p:sldId id="283" r:id="rId6"/>
    <p:sldId id="284" r:id="rId7"/>
    <p:sldId id="285" r:id="rId8"/>
    <p:sldId id="270" r:id="rId9"/>
    <p:sldId id="286" r:id="rId10"/>
    <p:sldId id="272" r:id="rId11"/>
    <p:sldId id="278" r:id="rId12"/>
    <p:sldId id="287" r:id="rId13"/>
    <p:sldId id="288" r:id="rId14"/>
    <p:sldId id="289" r:id="rId15"/>
    <p:sldId id="290" r:id="rId16"/>
    <p:sldId id="279" r:id="rId17"/>
    <p:sldId id="280" r:id="rId18"/>
    <p:sldId id="291" r:id="rId19"/>
    <p:sldId id="292" r:id="rId20"/>
    <p:sldId id="281" r:id="rId21"/>
    <p:sldId id="264" r:id="rId22"/>
    <p:sldId id="293" r:id="rId23"/>
    <p:sldId id="26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54" autoAdjust="0"/>
  </p:normalViewPr>
  <p:slideViewPr>
    <p:cSldViewPr>
      <p:cViewPr varScale="1">
        <p:scale>
          <a:sx n="78" d="100"/>
          <a:sy n="78" d="100"/>
        </p:scale>
        <p:origin x="159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DC18D7-DAB2-413D-9D3D-7A6B5B344BB8}" type="datetimeFigureOut">
              <a:rPr lang="en-US" smtClean="0"/>
              <a:pPr/>
              <a:t>11/30/2025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99C05A-9BCD-4559-9E5F-B3ECD3372C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E99C05A-9BCD-4559-9E5F-B3ECD3372C3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E99C05A-9BCD-4559-9E5F-B3ECD3372C37}"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99C05A-9BCD-4559-9E5F-B3ECD3372C37}" type="slidenum">
              <a:rPr lang="en-US" smtClean="0"/>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F87B2F-A5CD-4278-9F55-934601153194}" type="datetime1">
              <a:rPr lang="en-US" smtClean="0"/>
              <a:pPr/>
              <a:t>11/30/2025</a:t>
            </a:fld>
            <a:endParaRPr lang="en-US"/>
          </a:p>
        </p:txBody>
      </p:sp>
      <p:sp>
        <p:nvSpPr>
          <p:cNvPr id="5" name="Footer Placeholder 4"/>
          <p:cNvSpPr>
            <a:spLocks noGrp="1"/>
          </p:cNvSpPr>
          <p:nvPr>
            <p:ph type="ftr" sz="quarter" idx="11"/>
          </p:nvPr>
        </p:nvSpPr>
        <p:spPr/>
        <p:txBody>
          <a:bodyPr/>
          <a:lstStyle/>
          <a:p>
            <a:r>
              <a:rPr lang="en-US"/>
              <a:t>TITLE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6DCDEC-9A4C-4B68-830B-32754E603A4C}" type="datetime1">
              <a:rPr lang="en-US" smtClean="0"/>
              <a:pPr/>
              <a:t>11/30/2025</a:t>
            </a:fld>
            <a:endParaRPr lang="en-US"/>
          </a:p>
        </p:txBody>
      </p:sp>
      <p:sp>
        <p:nvSpPr>
          <p:cNvPr id="5" name="Footer Placeholder 4"/>
          <p:cNvSpPr>
            <a:spLocks noGrp="1"/>
          </p:cNvSpPr>
          <p:nvPr>
            <p:ph type="ftr" sz="quarter" idx="11"/>
          </p:nvPr>
        </p:nvSpPr>
        <p:spPr/>
        <p:txBody>
          <a:bodyPr/>
          <a:lstStyle/>
          <a:p>
            <a:r>
              <a:rPr lang="en-US"/>
              <a:t>TITLE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EF0E90-2BD0-4F7C-8E3F-D6D52B671D11}" type="datetime1">
              <a:rPr lang="en-US" smtClean="0"/>
              <a:pPr/>
              <a:t>11/30/2025</a:t>
            </a:fld>
            <a:endParaRPr lang="en-US"/>
          </a:p>
        </p:txBody>
      </p:sp>
      <p:sp>
        <p:nvSpPr>
          <p:cNvPr id="5" name="Footer Placeholder 4"/>
          <p:cNvSpPr>
            <a:spLocks noGrp="1"/>
          </p:cNvSpPr>
          <p:nvPr>
            <p:ph type="ftr" sz="quarter" idx="11"/>
          </p:nvPr>
        </p:nvSpPr>
        <p:spPr/>
        <p:txBody>
          <a:bodyPr/>
          <a:lstStyle/>
          <a:p>
            <a:r>
              <a:rPr lang="en-US"/>
              <a:t>TITLE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1D7523-DBEA-49A8-B6FD-23D2DC791F11}" type="datetime1">
              <a:rPr lang="en-US" smtClean="0"/>
              <a:pPr/>
              <a:t>11/30/2025</a:t>
            </a:fld>
            <a:endParaRPr lang="en-US"/>
          </a:p>
        </p:txBody>
      </p:sp>
      <p:sp>
        <p:nvSpPr>
          <p:cNvPr id="6" name="Footer Placeholder 5"/>
          <p:cNvSpPr>
            <a:spLocks noGrp="1"/>
          </p:cNvSpPr>
          <p:nvPr>
            <p:ph type="ftr" sz="quarter" idx="11"/>
          </p:nvPr>
        </p:nvSpPr>
        <p:spPr/>
        <p:txBody>
          <a:bodyPr/>
          <a:lstStyle/>
          <a:p>
            <a:r>
              <a:rPr lang="en-US"/>
              <a:t>TITLE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C42AC9-8738-4D68-9485-A3DF02ACEE55}" type="datetime1">
              <a:rPr lang="en-US" smtClean="0"/>
              <a:pPr/>
              <a:t>11/30/2025</a:t>
            </a:fld>
            <a:endParaRPr lang="en-US"/>
          </a:p>
        </p:txBody>
      </p:sp>
      <p:sp>
        <p:nvSpPr>
          <p:cNvPr id="8" name="Footer Placeholder 7"/>
          <p:cNvSpPr>
            <a:spLocks noGrp="1"/>
          </p:cNvSpPr>
          <p:nvPr>
            <p:ph type="ftr" sz="quarter" idx="11"/>
          </p:nvPr>
        </p:nvSpPr>
        <p:spPr/>
        <p:txBody>
          <a:bodyPr/>
          <a:lstStyle/>
          <a:p>
            <a:r>
              <a:rPr lang="en-US"/>
              <a:t>TITLE</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0ADD09-F9F1-4486-80F3-C4C14CDE2F82}" type="datetime1">
              <a:rPr lang="en-US" smtClean="0"/>
              <a:pPr/>
              <a:t>11/30/2025</a:t>
            </a:fld>
            <a:endParaRPr lang="en-US"/>
          </a:p>
        </p:txBody>
      </p:sp>
      <p:sp>
        <p:nvSpPr>
          <p:cNvPr id="4" name="Footer Placeholder 3"/>
          <p:cNvSpPr>
            <a:spLocks noGrp="1"/>
          </p:cNvSpPr>
          <p:nvPr>
            <p:ph type="ftr" sz="quarter" idx="11"/>
          </p:nvPr>
        </p:nvSpPr>
        <p:spPr/>
        <p:txBody>
          <a:bodyPr/>
          <a:lstStyle/>
          <a:p>
            <a:r>
              <a:rPr lang="en-US"/>
              <a:t>TITLE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AE85-7046-403D-BE45-25A0E65DA762}" type="datetime1">
              <a:rPr lang="en-US" smtClean="0"/>
              <a:pPr/>
              <a:t>11/30/2025</a:t>
            </a:fld>
            <a:endParaRPr lang="en-US"/>
          </a:p>
        </p:txBody>
      </p:sp>
      <p:sp>
        <p:nvSpPr>
          <p:cNvPr id="3" name="Footer Placeholder 2"/>
          <p:cNvSpPr>
            <a:spLocks noGrp="1"/>
          </p:cNvSpPr>
          <p:nvPr>
            <p:ph type="ftr" sz="quarter" idx="11"/>
          </p:nvPr>
        </p:nvSpPr>
        <p:spPr/>
        <p:txBody>
          <a:bodyPr/>
          <a:lstStyle/>
          <a:p>
            <a:r>
              <a:rPr lang="en-US"/>
              <a:t>TITLE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3BB809-432A-4436-867B-ABC1B1178672}" type="datetime1">
              <a:rPr lang="en-US" smtClean="0"/>
              <a:pPr/>
              <a:t>11/30/2025</a:t>
            </a:fld>
            <a:endParaRPr lang="en-US"/>
          </a:p>
        </p:txBody>
      </p:sp>
      <p:sp>
        <p:nvSpPr>
          <p:cNvPr id="6" name="Footer Placeholder 5"/>
          <p:cNvSpPr>
            <a:spLocks noGrp="1"/>
          </p:cNvSpPr>
          <p:nvPr>
            <p:ph type="ftr" sz="quarter" idx="11"/>
          </p:nvPr>
        </p:nvSpPr>
        <p:spPr/>
        <p:txBody>
          <a:bodyPr/>
          <a:lstStyle/>
          <a:p>
            <a:r>
              <a:rPr lang="en-US"/>
              <a:t>TITLE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57BD1D-223D-47E5-93E1-837AC42BDBF4}" type="datetime1">
              <a:rPr lang="en-US" smtClean="0"/>
              <a:pPr/>
              <a:t>11/30/2025</a:t>
            </a:fld>
            <a:endParaRPr lang="en-US"/>
          </a:p>
        </p:txBody>
      </p:sp>
      <p:sp>
        <p:nvSpPr>
          <p:cNvPr id="6" name="Footer Placeholder 5"/>
          <p:cNvSpPr>
            <a:spLocks noGrp="1"/>
          </p:cNvSpPr>
          <p:nvPr>
            <p:ph type="ftr" sz="quarter" idx="11"/>
          </p:nvPr>
        </p:nvSpPr>
        <p:spPr/>
        <p:txBody>
          <a:bodyPr/>
          <a:lstStyle/>
          <a:p>
            <a:r>
              <a:rPr lang="en-US"/>
              <a:t>TITLE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9EC257-761C-471F-AAB6-68C28625C71E}" type="datetime1">
              <a:rPr lang="en-US" smtClean="0"/>
              <a:pPr/>
              <a:t>11/30/2025</a:t>
            </a:fld>
            <a:endParaRPr lang="en-US"/>
          </a:p>
        </p:txBody>
      </p:sp>
      <p:sp>
        <p:nvSpPr>
          <p:cNvPr id="5" name="Footer Placeholder 4"/>
          <p:cNvSpPr>
            <a:spLocks noGrp="1"/>
          </p:cNvSpPr>
          <p:nvPr>
            <p:ph type="ftr" sz="quarter" idx="11"/>
          </p:nvPr>
        </p:nvSpPr>
        <p:spPr/>
        <p:txBody>
          <a:bodyPr/>
          <a:lstStyle/>
          <a:p>
            <a:r>
              <a:rPr lang="en-US"/>
              <a:t>TITLE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3FCDC-3093-4F44-9B3F-39E9CBB4DCC5}" type="datetime1">
              <a:rPr lang="en-US" smtClean="0"/>
              <a:pPr/>
              <a:t>11/30/2025</a:t>
            </a:fld>
            <a:endParaRPr lang="en-US"/>
          </a:p>
        </p:txBody>
      </p:sp>
      <p:sp>
        <p:nvSpPr>
          <p:cNvPr id="5" name="Footer Placeholder 4"/>
          <p:cNvSpPr>
            <a:spLocks noGrp="1"/>
          </p:cNvSpPr>
          <p:nvPr>
            <p:ph type="ftr" sz="quarter" idx="11"/>
          </p:nvPr>
        </p:nvSpPr>
        <p:spPr/>
        <p:txBody>
          <a:bodyPr/>
          <a:lstStyle/>
          <a:p>
            <a:r>
              <a:rPr lang="en-US"/>
              <a:t>TITLE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10F7FC-0F30-4519-BBFD-84773C53DBF8}" type="datetime1">
              <a:rPr lang="en-US" smtClean="0"/>
              <a:pPr/>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TITLE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4.png"/><Relationship Id="rId21" Type="http://schemas.openxmlformats.org/officeDocument/2006/relationships/image" Target="../media/image19.png"/><Relationship Id="rId42" Type="http://schemas.openxmlformats.org/officeDocument/2006/relationships/image" Target="../media/image40.png"/><Relationship Id="rId47" Type="http://schemas.openxmlformats.org/officeDocument/2006/relationships/image" Target="../media/image45.png"/><Relationship Id="rId63" Type="http://schemas.openxmlformats.org/officeDocument/2006/relationships/image" Target="../media/image61.png"/><Relationship Id="rId68" Type="http://schemas.openxmlformats.org/officeDocument/2006/relationships/image" Target="../media/image66.png"/><Relationship Id="rId84" Type="http://schemas.openxmlformats.org/officeDocument/2006/relationships/image" Target="../media/image82.png"/><Relationship Id="rId89" Type="http://schemas.openxmlformats.org/officeDocument/2006/relationships/image" Target="../media/image87.png"/><Relationship Id="rId16" Type="http://schemas.openxmlformats.org/officeDocument/2006/relationships/image" Target="../media/image14.png"/><Relationship Id="rId11" Type="http://schemas.openxmlformats.org/officeDocument/2006/relationships/image" Target="../media/image9.png"/><Relationship Id="rId32" Type="http://schemas.openxmlformats.org/officeDocument/2006/relationships/image" Target="../media/image30.png"/><Relationship Id="rId37" Type="http://schemas.openxmlformats.org/officeDocument/2006/relationships/image" Target="../media/image35.png"/><Relationship Id="rId53" Type="http://schemas.openxmlformats.org/officeDocument/2006/relationships/image" Target="../media/image51.png"/><Relationship Id="rId58" Type="http://schemas.openxmlformats.org/officeDocument/2006/relationships/image" Target="../media/image56.png"/><Relationship Id="rId74" Type="http://schemas.openxmlformats.org/officeDocument/2006/relationships/image" Target="../media/image72.png"/><Relationship Id="rId79" Type="http://schemas.openxmlformats.org/officeDocument/2006/relationships/image" Target="../media/image77.png"/><Relationship Id="rId5" Type="http://schemas.openxmlformats.org/officeDocument/2006/relationships/image" Target="../media/image3.png"/><Relationship Id="rId90" Type="http://schemas.openxmlformats.org/officeDocument/2006/relationships/image" Target="../media/image88.png"/><Relationship Id="rId95" Type="http://schemas.openxmlformats.org/officeDocument/2006/relationships/image" Target="../media/image93.png"/><Relationship Id="rId22" Type="http://schemas.openxmlformats.org/officeDocument/2006/relationships/image" Target="../media/image20.png"/><Relationship Id="rId27" Type="http://schemas.openxmlformats.org/officeDocument/2006/relationships/image" Target="../media/image25.png"/><Relationship Id="rId43" Type="http://schemas.openxmlformats.org/officeDocument/2006/relationships/image" Target="../media/image41.png"/><Relationship Id="rId48" Type="http://schemas.openxmlformats.org/officeDocument/2006/relationships/image" Target="../media/image46.png"/><Relationship Id="rId64" Type="http://schemas.openxmlformats.org/officeDocument/2006/relationships/image" Target="../media/image62.png"/><Relationship Id="rId69" Type="http://schemas.openxmlformats.org/officeDocument/2006/relationships/image" Target="../media/image67.png"/><Relationship Id="rId80" Type="http://schemas.openxmlformats.org/officeDocument/2006/relationships/image" Target="../media/image78.png"/><Relationship Id="rId85" Type="http://schemas.openxmlformats.org/officeDocument/2006/relationships/image" Target="../media/image83.png"/><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46" Type="http://schemas.openxmlformats.org/officeDocument/2006/relationships/image" Target="../media/image44.png"/><Relationship Id="rId59" Type="http://schemas.openxmlformats.org/officeDocument/2006/relationships/image" Target="../media/image57.png"/><Relationship Id="rId67" Type="http://schemas.openxmlformats.org/officeDocument/2006/relationships/image" Target="../media/image65.png"/><Relationship Id="rId20" Type="http://schemas.openxmlformats.org/officeDocument/2006/relationships/image" Target="../media/image18.png"/><Relationship Id="rId41" Type="http://schemas.openxmlformats.org/officeDocument/2006/relationships/image" Target="../media/image39.png"/><Relationship Id="rId54" Type="http://schemas.openxmlformats.org/officeDocument/2006/relationships/image" Target="../media/image52.png"/><Relationship Id="rId62" Type="http://schemas.openxmlformats.org/officeDocument/2006/relationships/image" Target="../media/image60.png"/><Relationship Id="rId70" Type="http://schemas.openxmlformats.org/officeDocument/2006/relationships/image" Target="../media/image68.png"/><Relationship Id="rId75" Type="http://schemas.openxmlformats.org/officeDocument/2006/relationships/image" Target="../media/image73.png"/><Relationship Id="rId83" Type="http://schemas.openxmlformats.org/officeDocument/2006/relationships/image" Target="../media/image81.png"/><Relationship Id="rId88" Type="http://schemas.openxmlformats.org/officeDocument/2006/relationships/image" Target="../media/image86.png"/><Relationship Id="rId91" Type="http://schemas.openxmlformats.org/officeDocument/2006/relationships/image" Target="../media/image89.png"/><Relationship Id="rId96"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4.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png"/><Relationship Id="rId57" Type="http://schemas.openxmlformats.org/officeDocument/2006/relationships/image" Target="../media/image55.png"/><Relationship Id="rId10" Type="http://schemas.openxmlformats.org/officeDocument/2006/relationships/image" Target="../media/image8.png"/><Relationship Id="rId31" Type="http://schemas.openxmlformats.org/officeDocument/2006/relationships/image" Target="../media/image29.png"/><Relationship Id="rId44" Type="http://schemas.openxmlformats.org/officeDocument/2006/relationships/image" Target="../media/image42.png"/><Relationship Id="rId52" Type="http://schemas.openxmlformats.org/officeDocument/2006/relationships/image" Target="../media/image50.png"/><Relationship Id="rId60" Type="http://schemas.openxmlformats.org/officeDocument/2006/relationships/image" Target="../media/image58.png"/><Relationship Id="rId65" Type="http://schemas.openxmlformats.org/officeDocument/2006/relationships/image" Target="../media/image63.png"/><Relationship Id="rId73" Type="http://schemas.openxmlformats.org/officeDocument/2006/relationships/image" Target="../media/image71.png"/><Relationship Id="rId78" Type="http://schemas.openxmlformats.org/officeDocument/2006/relationships/image" Target="../media/image76.png"/><Relationship Id="rId81" Type="http://schemas.openxmlformats.org/officeDocument/2006/relationships/image" Target="../media/image79.png"/><Relationship Id="rId86" Type="http://schemas.openxmlformats.org/officeDocument/2006/relationships/image" Target="../media/image84.png"/><Relationship Id="rId94" Type="http://schemas.openxmlformats.org/officeDocument/2006/relationships/image" Target="../media/image92.png"/><Relationship Id="rId4" Type="http://schemas.openxmlformats.org/officeDocument/2006/relationships/image" Target="../media/image2.png"/><Relationship Id="rId9" Type="http://schemas.openxmlformats.org/officeDocument/2006/relationships/image" Target="../media/image7.png"/><Relationship Id="rId13" Type="http://schemas.openxmlformats.org/officeDocument/2006/relationships/image" Target="../media/image11.png"/><Relationship Id="rId18" Type="http://schemas.openxmlformats.org/officeDocument/2006/relationships/image" Target="../media/image16.png"/><Relationship Id="rId39" Type="http://schemas.openxmlformats.org/officeDocument/2006/relationships/image" Target="../media/image37.png"/><Relationship Id="rId34" Type="http://schemas.openxmlformats.org/officeDocument/2006/relationships/image" Target="../media/image32.png"/><Relationship Id="rId50" Type="http://schemas.openxmlformats.org/officeDocument/2006/relationships/image" Target="../media/image48.png"/><Relationship Id="rId55" Type="http://schemas.openxmlformats.org/officeDocument/2006/relationships/image" Target="../media/image53.png"/><Relationship Id="rId76" Type="http://schemas.openxmlformats.org/officeDocument/2006/relationships/image" Target="../media/image74.png"/><Relationship Id="rId97" Type="http://schemas.openxmlformats.org/officeDocument/2006/relationships/image" Target="../media/image95.png"/><Relationship Id="rId7" Type="http://schemas.openxmlformats.org/officeDocument/2006/relationships/image" Target="../media/image5.png"/><Relationship Id="rId71" Type="http://schemas.openxmlformats.org/officeDocument/2006/relationships/image" Target="../media/image69.png"/><Relationship Id="rId92" Type="http://schemas.openxmlformats.org/officeDocument/2006/relationships/image" Target="../media/image90.png"/><Relationship Id="rId2" Type="http://schemas.openxmlformats.org/officeDocument/2006/relationships/notesSlide" Target="../notesSlides/notesSlide1.xml"/><Relationship Id="rId29" Type="http://schemas.openxmlformats.org/officeDocument/2006/relationships/image" Target="../media/image27.png"/><Relationship Id="rId24" Type="http://schemas.openxmlformats.org/officeDocument/2006/relationships/image" Target="../media/image22.png"/><Relationship Id="rId40" Type="http://schemas.openxmlformats.org/officeDocument/2006/relationships/image" Target="../media/image38.png"/><Relationship Id="rId45" Type="http://schemas.openxmlformats.org/officeDocument/2006/relationships/image" Target="../media/image43.png"/><Relationship Id="rId66" Type="http://schemas.openxmlformats.org/officeDocument/2006/relationships/image" Target="../media/image64.png"/><Relationship Id="rId87" Type="http://schemas.openxmlformats.org/officeDocument/2006/relationships/image" Target="../media/image85.png"/><Relationship Id="rId61" Type="http://schemas.openxmlformats.org/officeDocument/2006/relationships/image" Target="../media/image59.png"/><Relationship Id="rId82" Type="http://schemas.openxmlformats.org/officeDocument/2006/relationships/image" Target="../media/image80.png"/><Relationship Id="rId19" Type="http://schemas.openxmlformats.org/officeDocument/2006/relationships/image" Target="../media/image17.png"/><Relationship Id="rId14" Type="http://schemas.openxmlformats.org/officeDocument/2006/relationships/image" Target="../media/image12.png"/><Relationship Id="rId30" Type="http://schemas.openxmlformats.org/officeDocument/2006/relationships/image" Target="../media/image28.png"/><Relationship Id="rId35" Type="http://schemas.openxmlformats.org/officeDocument/2006/relationships/image" Target="../media/image33.png"/><Relationship Id="rId56" Type="http://schemas.openxmlformats.org/officeDocument/2006/relationships/image" Target="../media/image54.png"/><Relationship Id="rId77" Type="http://schemas.openxmlformats.org/officeDocument/2006/relationships/image" Target="../media/image75.png"/><Relationship Id="rId8" Type="http://schemas.openxmlformats.org/officeDocument/2006/relationships/image" Target="../media/image6.png"/><Relationship Id="rId51" Type="http://schemas.openxmlformats.org/officeDocument/2006/relationships/image" Target="../media/image49.png"/><Relationship Id="rId72" Type="http://schemas.openxmlformats.org/officeDocument/2006/relationships/image" Target="../media/image70.png"/><Relationship Id="rId93" Type="http://schemas.openxmlformats.org/officeDocument/2006/relationships/image" Target="../media/image91.png"/><Relationship Id="rId98" Type="http://schemas.openxmlformats.org/officeDocument/2006/relationships/image" Target="../media/image96.png"/></Relationships>
</file>

<file path=ppt/slides/_rels/slide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7.jpeg"/></Relationships>
</file>

<file path=ppt/slides/_rels/slide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7.jpeg"/></Relationships>
</file>

<file path=ppt/slides/_rels/slide10.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9.jpeg"/><Relationship Id="rId1" Type="http://schemas.openxmlformats.org/officeDocument/2006/relationships/slideLayout" Target="../slideLayouts/slideLayout2.xml"/><Relationship Id="rId4" Type="http://schemas.openxmlformats.org/officeDocument/2006/relationships/image" Target="../media/image97.jpeg"/></Relationships>
</file>

<file path=ppt/slides/_rels/slide1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1.jpeg"/><Relationship Id="rId4" Type="http://schemas.openxmlformats.org/officeDocument/2006/relationships/image" Target="../media/image10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creativecommons.org/licenses/by/4.0" TargetMode="External"/><Relationship Id="rId2" Type="http://schemas.openxmlformats.org/officeDocument/2006/relationships/hyperlink" Target="https://doi.org/10.1080/1206212X.2023.2215077" TargetMode="External"/><Relationship Id="rId1" Type="http://schemas.openxmlformats.org/officeDocument/2006/relationships/slideLayout" Target="../slideLayouts/slideLayout2.xml"/><Relationship Id="rId6" Type="http://schemas.openxmlformats.org/officeDocument/2006/relationships/image" Target="../media/image97.jpeg"/><Relationship Id="rId5" Type="http://schemas.openxmlformats.org/officeDocument/2006/relationships/image" Target="../media/image1.png"/><Relationship Id="rId4" Type="http://schemas.openxmlformats.org/officeDocument/2006/relationships/hyperlink" Target="http://dx.doi.org/10.24018/ejece.2021.5.2.318"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ieeexplore.ieee.org/document/9053033" TargetMode="External"/><Relationship Id="rId2" Type="http://schemas.openxmlformats.org/officeDocument/2006/relationships/hyperlink" Target="https://www.irjet.net/" TargetMode="External"/><Relationship Id="rId1" Type="http://schemas.openxmlformats.org/officeDocument/2006/relationships/slideLayout" Target="../slideLayouts/slideLayout2.xml"/><Relationship Id="rId5" Type="http://schemas.openxmlformats.org/officeDocument/2006/relationships/image" Target="../media/image97.jpe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2486" y="2057400"/>
            <a:ext cx="8229600" cy="4464908"/>
          </a:xfrm>
        </p:spPr>
        <p:txBody>
          <a:bodyPr>
            <a:normAutofit/>
          </a:bodyPr>
          <a:lstStyle/>
          <a:p>
            <a:r>
              <a:rPr lang="en-IN" altLang="en-US" sz="1800" b="1" dirty="0">
                <a:solidFill>
                  <a:schemeClr val="tx1"/>
                </a:solidFill>
                <a:latin typeface="Times New Roman" panose="02020603050405020304" pitchFamily="18" charset="0"/>
                <a:cs typeface="Times New Roman" panose="02020603050405020304" pitchFamily="18" charset="0"/>
              </a:rPr>
              <a:t>Department of  Electronics and Communication Engineering </a:t>
            </a:r>
          </a:p>
          <a:p>
            <a:r>
              <a:rPr lang="fr-FR" altLang="en-US" sz="1800" b="1" dirty="0">
                <a:solidFill>
                  <a:schemeClr val="tx1"/>
                </a:solidFill>
                <a:latin typeface="Times New Roman" panose="02020603050405020304" pitchFamily="18" charset="0"/>
                <a:cs typeface="Times New Roman" panose="02020603050405020304" pitchFamily="18" charset="0"/>
                <a:sym typeface="+mn-ea"/>
              </a:rPr>
              <a:t>          </a:t>
            </a:r>
          </a:p>
          <a:p>
            <a:r>
              <a:rPr lang="fr-FR" altLang="en-US" sz="1800" b="1" dirty="0">
                <a:solidFill>
                  <a:schemeClr val="tx1"/>
                </a:solidFill>
                <a:latin typeface="Times New Roman" panose="02020603050405020304" pitchFamily="18" charset="0"/>
                <a:cs typeface="Times New Roman" panose="02020603050405020304" pitchFamily="18" charset="0"/>
                <a:sym typeface="+mn-ea"/>
              </a:rPr>
              <a:t>Mini Project </a:t>
            </a:r>
            <a:r>
              <a:rPr lang="en-US" altLang="en-US" sz="1800" b="1" dirty="0">
                <a:solidFill>
                  <a:schemeClr val="tx1"/>
                </a:solidFill>
                <a:latin typeface="Times New Roman" panose="02020603050405020304" pitchFamily="18" charset="0"/>
                <a:cs typeface="Times New Roman" panose="02020603050405020304" pitchFamily="18" charset="0"/>
                <a:sym typeface="+mn-ea"/>
              </a:rPr>
              <a:t>(BEC586) </a:t>
            </a:r>
            <a:r>
              <a:rPr lang="fr-FR" altLang="en-US" sz="1800" b="1" dirty="0" err="1">
                <a:solidFill>
                  <a:schemeClr val="tx1"/>
                </a:solidFill>
                <a:latin typeface="Times New Roman" panose="02020603050405020304" pitchFamily="18" charset="0"/>
                <a:cs typeface="Times New Roman" panose="02020603050405020304" pitchFamily="18" charset="0"/>
                <a:sym typeface="+mn-ea"/>
              </a:rPr>
              <a:t>Presentation</a:t>
            </a:r>
            <a:r>
              <a:rPr lang="fr-FR" sz="1800" b="1" dirty="0">
                <a:solidFill>
                  <a:schemeClr val="tx1"/>
                </a:solidFill>
                <a:latin typeface="Times New Roman" panose="02020603050405020304" pitchFamily="18" charset="0"/>
                <a:cs typeface="Times New Roman" panose="02020603050405020304" pitchFamily="18" charset="0"/>
                <a:sym typeface="+mn-ea"/>
              </a:rPr>
              <a:t> </a:t>
            </a:r>
            <a:r>
              <a:rPr lang="en-US" sz="1800" b="1" dirty="0">
                <a:solidFill>
                  <a:schemeClr val="tx1"/>
                </a:solidFill>
                <a:latin typeface="Times New Roman" panose="02020603050405020304" pitchFamily="18" charset="0"/>
                <a:cs typeface="Times New Roman" panose="02020603050405020304" pitchFamily="18" charset="0"/>
                <a:sym typeface="+mn-ea"/>
              </a:rPr>
              <a:t>on </a:t>
            </a:r>
            <a:endParaRPr lang="en-US" sz="1800" dirty="0">
              <a:solidFill>
                <a:srgbClr val="FF0000"/>
              </a:solidFill>
              <a:latin typeface="Times New Roman" panose="02020603050405020304" pitchFamily="18" charset="0"/>
              <a:cs typeface="Times New Roman" panose="02020603050405020304" pitchFamily="18" charset="0"/>
            </a:endParaRPr>
          </a:p>
          <a:p>
            <a:r>
              <a:rPr lang="en-IN" sz="1800" b="1" dirty="0">
                <a:solidFill>
                  <a:schemeClr val="tx1"/>
                </a:solidFill>
                <a:latin typeface="Times New Roman" panose="02020603050405020304" pitchFamily="18" charset="0"/>
                <a:cs typeface="Times New Roman" panose="02020603050405020304" pitchFamily="18" charset="0"/>
                <a:sym typeface="+mn-ea"/>
              </a:rPr>
              <a:t> “</a:t>
            </a:r>
            <a:r>
              <a:rPr lang="en-US" sz="1800" b="1" dirty="0">
                <a:solidFill>
                  <a:schemeClr val="tx1"/>
                </a:solidFill>
                <a:latin typeface="Times New Roman" panose="02020603050405020304" pitchFamily="18" charset="0"/>
                <a:cs typeface="Times New Roman" panose="02020603050405020304" pitchFamily="18" charset="0"/>
                <a:sym typeface="+mn-ea"/>
              </a:rPr>
              <a:t>LOCATION GUIDE USING RF -MICROCONTOLLER</a:t>
            </a:r>
            <a:r>
              <a:rPr lang="en-IN" altLang="en-US" sz="1800" dirty="0">
                <a:solidFill>
                  <a:schemeClr val="tx1"/>
                </a:solidFill>
                <a:latin typeface="Times New Roman" panose="02020603050405020304" pitchFamily="18" charset="0"/>
                <a:cs typeface="Times New Roman" panose="02020603050405020304" pitchFamily="18" charset="0"/>
                <a:sym typeface="+mn-ea"/>
              </a:rPr>
              <a:t>”</a:t>
            </a:r>
            <a:endParaRPr lang="en-IN" altLang="en-US" sz="1600" dirty="0">
              <a:solidFill>
                <a:schemeClr val="tx1"/>
              </a:solidFill>
              <a:latin typeface="Times New Roman" panose="02020603050405020304" pitchFamily="18" charset="0"/>
              <a:cs typeface="Times New Roman" panose="02020603050405020304" pitchFamily="18" charset="0"/>
              <a:sym typeface="+mn-ea"/>
            </a:endParaRPr>
          </a:p>
          <a:p>
            <a:r>
              <a:rPr lang="en-IN" sz="1600" dirty="0">
                <a:solidFill>
                  <a:schemeClr val="tx1"/>
                </a:solidFill>
                <a:latin typeface="Times New Roman" panose="02020603050405020304" pitchFamily="18" charset="0"/>
                <a:cs typeface="Times New Roman" panose="02020603050405020304" pitchFamily="18" charset="0"/>
                <a:sym typeface="+mn-ea"/>
              </a:rPr>
              <a:t>By</a:t>
            </a:r>
          </a:p>
          <a:p>
            <a:pPr algn="just"/>
            <a:r>
              <a:rPr lang="en-IN" sz="1800" b="1" dirty="0"/>
              <a:t>		</a:t>
            </a:r>
            <a:r>
              <a:rPr lang="en-IN" sz="1800" dirty="0">
                <a:solidFill>
                  <a:schemeClr val="tx1"/>
                </a:solidFill>
                <a:latin typeface="Times New Roman" panose="02020603050405020304" pitchFamily="18" charset="0"/>
                <a:cs typeface="Times New Roman" panose="02020603050405020304" pitchFamily="18" charset="0"/>
              </a:rPr>
              <a:t>AISHWARYA M		(4GW23EC008)</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r>
              <a:rPr lang="en-IN" sz="1800" dirty="0">
                <a:solidFill>
                  <a:schemeClr val="tx1"/>
                </a:solidFill>
                <a:latin typeface="Times New Roman" panose="02020603050405020304" pitchFamily="18" charset="0"/>
                <a:cs typeface="Times New Roman" panose="02020603050405020304" pitchFamily="18" charset="0"/>
              </a:rPr>
              <a:t>AMULYA M S		(4GW23EC017)</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r>
              <a:rPr lang="en-IN" sz="1800" dirty="0">
                <a:solidFill>
                  <a:schemeClr val="tx1"/>
                </a:solidFill>
                <a:latin typeface="Times New Roman" panose="02020603050405020304" pitchFamily="18" charset="0"/>
                <a:cs typeface="Times New Roman" panose="02020603050405020304" pitchFamily="18" charset="0"/>
              </a:rPr>
              <a:t>GAANA N J		(4GW23EC048)</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r>
              <a:rPr lang="en-IN" sz="1800" dirty="0">
                <a:solidFill>
                  <a:schemeClr val="tx1"/>
                </a:solidFill>
                <a:latin typeface="Times New Roman" panose="02020603050405020304" pitchFamily="18" charset="0"/>
                <a:cs typeface="Times New Roman" panose="02020603050405020304" pitchFamily="18" charset="0"/>
              </a:rPr>
              <a:t>KEERTHANA G		(4GW23EC062)</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400" dirty="0">
              <a:solidFill>
                <a:schemeClr val="tx1"/>
              </a:solidFill>
              <a:latin typeface="Times New Roman" panose="02020603050405020304" pitchFamily="18" charset="0"/>
              <a:cs typeface="Times New Roman" panose="02020603050405020304" pitchFamily="18" charset="0"/>
            </a:endParaRPr>
          </a:p>
          <a:p>
            <a:r>
              <a:rPr lang="en-IN" altLang="en-US" sz="1400" dirty="0">
                <a:solidFill>
                  <a:schemeClr val="tx1"/>
                </a:solidFill>
                <a:latin typeface="Times New Roman" panose="02020603050405020304" pitchFamily="18" charset="0"/>
                <a:cs typeface="Times New Roman" panose="02020603050405020304" pitchFamily="18" charset="0"/>
              </a:rPr>
              <a:t> </a:t>
            </a:r>
            <a:r>
              <a:rPr lang="fr-FR" altLang="en-US" sz="1400" b="1" dirty="0">
                <a:solidFill>
                  <a:schemeClr val="tx1"/>
                </a:solidFill>
                <a:latin typeface="Times New Roman" panose="02020603050405020304" pitchFamily="18" charset="0"/>
                <a:cs typeface="Times New Roman" panose="02020603050405020304" pitchFamily="18" charset="0"/>
                <a:sym typeface="+mn-ea"/>
              </a:rPr>
              <a:t>Under the guidance of</a:t>
            </a:r>
            <a:endParaRPr lang="en-US" sz="1400" dirty="0">
              <a:solidFill>
                <a:schemeClr val="tx1"/>
              </a:solidFill>
              <a:latin typeface="Times New Roman" panose="02020603050405020304" pitchFamily="18" charset="0"/>
              <a:cs typeface="Times New Roman" panose="02020603050405020304" pitchFamily="18" charset="0"/>
            </a:endParaRPr>
          </a:p>
          <a:p>
            <a:r>
              <a:rPr lang="en-US" sz="1200" dirty="0">
                <a:solidFill>
                  <a:schemeClr val="tx1"/>
                </a:solidFill>
                <a:latin typeface="Times New Roman" panose="02020603050405020304" pitchFamily="18" charset="0"/>
                <a:cs typeface="Times New Roman" panose="02020603050405020304" pitchFamily="18" charset="0"/>
              </a:rPr>
              <a:t>Dr .RAJENDRA R PATIL</a:t>
            </a:r>
          </a:p>
          <a:p>
            <a:r>
              <a:rPr lang="en-US" sz="1400" dirty="0">
                <a:solidFill>
                  <a:schemeClr val="tx1"/>
                </a:solidFill>
                <a:latin typeface="Times New Roman" panose="02020603050405020304" pitchFamily="18" charset="0"/>
                <a:cs typeface="Times New Roman" panose="02020603050405020304" pitchFamily="18" charset="0"/>
              </a:rPr>
              <a:t>Professor &amp; HOD</a:t>
            </a:r>
          </a:p>
          <a:p>
            <a:r>
              <a:rPr lang="en-US" sz="1400" dirty="0">
                <a:solidFill>
                  <a:schemeClr val="tx1"/>
                </a:solidFill>
                <a:latin typeface="Times New Roman" panose="02020603050405020304" pitchFamily="18" charset="0"/>
                <a:cs typeface="Times New Roman" panose="02020603050405020304" pitchFamily="18" charset="0"/>
              </a:rPr>
              <a:t>Dept. of ECE, GSSSIETW</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pic>
        <p:nvPicPr>
          <p:cNvPr id="4" name="Picture 3" descr="E:\Shiva\VTU-logo.png"/>
          <p:cNvPicPr/>
          <p:nvPr/>
        </p:nvPicPr>
        <p:blipFill>
          <a:blip r:embed="rId3" cstate="print"/>
          <a:srcRect/>
          <a:stretch>
            <a:fillRect/>
          </a:stretch>
        </p:blipFill>
        <p:spPr bwMode="auto">
          <a:xfrm>
            <a:off x="7620000" y="152400"/>
            <a:ext cx="1292913" cy="1533525"/>
          </a:xfrm>
          <a:prstGeom prst="rect">
            <a:avLst/>
          </a:prstGeom>
          <a:noFill/>
          <a:ln w="9525">
            <a:noFill/>
            <a:miter lim="800000"/>
            <a:headEnd/>
            <a:tailEnd/>
          </a:ln>
        </p:spPr>
      </p:pic>
      <p:grpSp>
        <p:nvGrpSpPr>
          <p:cNvPr id="1026" name="Group 2"/>
          <p:cNvGrpSpPr>
            <a:grpSpLocks/>
          </p:cNvGrpSpPr>
          <p:nvPr/>
        </p:nvGrpSpPr>
        <p:grpSpPr bwMode="auto">
          <a:xfrm>
            <a:off x="304800" y="228600"/>
            <a:ext cx="7286625" cy="1600200"/>
            <a:chOff x="0" y="0"/>
            <a:chExt cx="11907" cy="3154"/>
          </a:xfrm>
        </p:grpSpPr>
        <p:pic>
          <p:nvPicPr>
            <p:cNvPr id="2" name="docshape2"/>
            <p:cNvPicPr>
              <a:picLocks noChangeAspect="1" noChangeArrowheads="1"/>
            </p:cNvPicPr>
            <p:nvPr/>
          </p:nvPicPr>
          <p:blipFill>
            <a:blip r:embed="rId4" cstate="print"/>
            <a:srcRect/>
            <a:stretch>
              <a:fillRect/>
            </a:stretch>
          </p:blipFill>
          <p:spPr bwMode="auto">
            <a:xfrm>
              <a:off x="0" y="0"/>
              <a:ext cx="11907" cy="3154"/>
            </a:xfrm>
            <a:prstGeom prst="rect">
              <a:avLst/>
            </a:prstGeom>
            <a:noFill/>
          </p:spPr>
        </p:pic>
        <p:pic>
          <p:nvPicPr>
            <p:cNvPr id="5" name="docshape3"/>
            <p:cNvPicPr>
              <a:picLocks noChangeAspect="1" noChangeArrowheads="1"/>
            </p:cNvPicPr>
            <p:nvPr/>
          </p:nvPicPr>
          <p:blipFill>
            <a:blip r:embed="rId5"/>
            <a:srcRect/>
            <a:stretch>
              <a:fillRect/>
            </a:stretch>
          </p:blipFill>
          <p:spPr bwMode="auto">
            <a:xfrm>
              <a:off x="2252" y="2274"/>
              <a:ext cx="147" cy="165"/>
            </a:xfrm>
            <a:prstGeom prst="rect">
              <a:avLst/>
            </a:prstGeom>
            <a:noFill/>
          </p:spPr>
        </p:pic>
        <p:pic>
          <p:nvPicPr>
            <p:cNvPr id="8" name="docshape4"/>
            <p:cNvPicPr>
              <a:picLocks noChangeAspect="1" noChangeArrowheads="1"/>
            </p:cNvPicPr>
            <p:nvPr/>
          </p:nvPicPr>
          <p:blipFill>
            <a:blip r:embed="rId6"/>
            <a:srcRect/>
            <a:stretch>
              <a:fillRect/>
            </a:stretch>
          </p:blipFill>
          <p:spPr bwMode="auto">
            <a:xfrm>
              <a:off x="2409" y="2274"/>
              <a:ext cx="152" cy="165"/>
            </a:xfrm>
            <a:prstGeom prst="rect">
              <a:avLst/>
            </a:prstGeom>
            <a:noFill/>
          </p:spPr>
        </p:pic>
        <p:pic>
          <p:nvPicPr>
            <p:cNvPr id="9" name="docshape5"/>
            <p:cNvPicPr>
              <a:picLocks noChangeAspect="1" noChangeArrowheads="1"/>
            </p:cNvPicPr>
            <p:nvPr/>
          </p:nvPicPr>
          <p:blipFill>
            <a:blip r:embed="rId7"/>
            <a:srcRect/>
            <a:stretch>
              <a:fillRect/>
            </a:stretch>
          </p:blipFill>
          <p:spPr bwMode="auto">
            <a:xfrm>
              <a:off x="2563" y="2271"/>
              <a:ext cx="133" cy="171"/>
            </a:xfrm>
            <a:prstGeom prst="rect">
              <a:avLst/>
            </a:prstGeom>
            <a:noFill/>
          </p:spPr>
        </p:pic>
        <p:pic>
          <p:nvPicPr>
            <p:cNvPr id="10" name="docshape6"/>
            <p:cNvPicPr>
              <a:picLocks noChangeAspect="1" noChangeArrowheads="1"/>
            </p:cNvPicPr>
            <p:nvPr/>
          </p:nvPicPr>
          <p:blipFill>
            <a:blip r:embed="rId8"/>
            <a:srcRect/>
            <a:stretch>
              <a:fillRect/>
            </a:stretch>
          </p:blipFill>
          <p:spPr bwMode="auto">
            <a:xfrm>
              <a:off x="2780" y="2274"/>
              <a:ext cx="152" cy="165"/>
            </a:xfrm>
            <a:prstGeom prst="rect">
              <a:avLst/>
            </a:prstGeom>
            <a:noFill/>
          </p:spPr>
        </p:pic>
        <p:pic>
          <p:nvPicPr>
            <p:cNvPr id="11" name="docshape7"/>
            <p:cNvPicPr>
              <a:picLocks noChangeAspect="1" noChangeArrowheads="1"/>
            </p:cNvPicPr>
            <p:nvPr/>
          </p:nvPicPr>
          <p:blipFill>
            <a:blip r:embed="rId9"/>
            <a:srcRect/>
            <a:stretch>
              <a:fillRect/>
            </a:stretch>
          </p:blipFill>
          <p:spPr bwMode="auto">
            <a:xfrm>
              <a:off x="2937" y="2271"/>
              <a:ext cx="159" cy="172"/>
            </a:xfrm>
            <a:prstGeom prst="rect">
              <a:avLst/>
            </a:prstGeom>
            <a:noFill/>
          </p:spPr>
        </p:pic>
        <p:pic>
          <p:nvPicPr>
            <p:cNvPr id="12" name="docshape8"/>
            <p:cNvPicPr>
              <a:picLocks noChangeAspect="1" noChangeArrowheads="1"/>
            </p:cNvPicPr>
            <p:nvPr/>
          </p:nvPicPr>
          <p:blipFill>
            <a:blip r:embed="rId10"/>
            <a:srcRect/>
            <a:stretch>
              <a:fillRect/>
            </a:stretch>
          </p:blipFill>
          <p:spPr bwMode="auto">
            <a:xfrm>
              <a:off x="3099" y="2274"/>
              <a:ext cx="156" cy="165"/>
            </a:xfrm>
            <a:prstGeom prst="rect">
              <a:avLst/>
            </a:prstGeom>
            <a:noFill/>
          </p:spPr>
        </p:pic>
        <p:pic>
          <p:nvPicPr>
            <p:cNvPr id="13" name="docshape9"/>
            <p:cNvPicPr>
              <a:picLocks noChangeAspect="1" noChangeArrowheads="1"/>
            </p:cNvPicPr>
            <p:nvPr/>
          </p:nvPicPr>
          <p:blipFill>
            <a:blip r:embed="rId11"/>
            <a:srcRect/>
            <a:stretch>
              <a:fillRect/>
            </a:stretch>
          </p:blipFill>
          <p:spPr bwMode="auto">
            <a:xfrm>
              <a:off x="3270" y="2274"/>
              <a:ext cx="217" cy="206"/>
            </a:xfrm>
            <a:prstGeom prst="rect">
              <a:avLst/>
            </a:prstGeom>
            <a:noFill/>
          </p:spPr>
        </p:pic>
        <p:pic>
          <p:nvPicPr>
            <p:cNvPr id="14" name="docshape10"/>
            <p:cNvPicPr>
              <a:picLocks noChangeAspect="1" noChangeArrowheads="1"/>
            </p:cNvPicPr>
            <p:nvPr/>
          </p:nvPicPr>
          <p:blipFill>
            <a:blip r:embed="rId12"/>
            <a:srcRect/>
            <a:stretch>
              <a:fillRect/>
            </a:stretch>
          </p:blipFill>
          <p:spPr bwMode="auto">
            <a:xfrm>
              <a:off x="3576" y="2274"/>
              <a:ext cx="174" cy="165"/>
            </a:xfrm>
            <a:prstGeom prst="rect">
              <a:avLst/>
            </a:prstGeom>
            <a:noFill/>
          </p:spPr>
        </p:pic>
        <p:pic>
          <p:nvPicPr>
            <p:cNvPr id="15" name="docshape11"/>
            <p:cNvPicPr>
              <a:picLocks noChangeAspect="1" noChangeArrowheads="1"/>
            </p:cNvPicPr>
            <p:nvPr/>
          </p:nvPicPr>
          <p:blipFill>
            <a:blip r:embed="rId13"/>
            <a:srcRect/>
            <a:stretch>
              <a:fillRect/>
            </a:stretch>
          </p:blipFill>
          <p:spPr bwMode="auto">
            <a:xfrm>
              <a:off x="3777" y="2274"/>
              <a:ext cx="117" cy="165"/>
            </a:xfrm>
            <a:prstGeom prst="rect">
              <a:avLst/>
            </a:prstGeom>
            <a:noFill/>
          </p:spPr>
        </p:pic>
        <p:pic>
          <p:nvPicPr>
            <p:cNvPr id="16" name="docshape12"/>
            <p:cNvPicPr>
              <a:picLocks noChangeAspect="1" noChangeArrowheads="1"/>
            </p:cNvPicPr>
            <p:nvPr/>
          </p:nvPicPr>
          <p:blipFill>
            <a:blip r:embed="rId14"/>
            <a:srcRect/>
            <a:stretch>
              <a:fillRect/>
            </a:stretch>
          </p:blipFill>
          <p:spPr bwMode="auto">
            <a:xfrm>
              <a:off x="3903" y="2274"/>
              <a:ext cx="288" cy="165"/>
            </a:xfrm>
            <a:prstGeom prst="rect">
              <a:avLst/>
            </a:prstGeom>
            <a:noFill/>
          </p:spPr>
        </p:pic>
        <p:pic>
          <p:nvPicPr>
            <p:cNvPr id="17" name="docshape13"/>
            <p:cNvPicPr>
              <a:picLocks noChangeAspect="1" noChangeArrowheads="1"/>
            </p:cNvPicPr>
            <p:nvPr/>
          </p:nvPicPr>
          <p:blipFill>
            <a:blip r:embed="rId15"/>
            <a:srcRect/>
            <a:stretch>
              <a:fillRect/>
            </a:stretch>
          </p:blipFill>
          <p:spPr bwMode="auto">
            <a:xfrm>
              <a:off x="4200" y="2271"/>
              <a:ext cx="149" cy="172"/>
            </a:xfrm>
            <a:prstGeom prst="rect">
              <a:avLst/>
            </a:prstGeom>
            <a:noFill/>
          </p:spPr>
        </p:pic>
        <p:pic>
          <p:nvPicPr>
            <p:cNvPr id="18" name="docshape14"/>
            <p:cNvPicPr>
              <a:picLocks noChangeAspect="1" noChangeArrowheads="1"/>
            </p:cNvPicPr>
            <p:nvPr/>
          </p:nvPicPr>
          <p:blipFill>
            <a:blip r:embed="rId16"/>
            <a:srcRect/>
            <a:stretch>
              <a:fillRect/>
            </a:stretch>
          </p:blipFill>
          <p:spPr bwMode="auto">
            <a:xfrm>
              <a:off x="4357" y="2274"/>
              <a:ext cx="156" cy="165"/>
            </a:xfrm>
            <a:prstGeom prst="rect">
              <a:avLst/>
            </a:prstGeom>
            <a:noFill/>
          </p:spPr>
        </p:pic>
        <p:pic>
          <p:nvPicPr>
            <p:cNvPr id="19" name="docshape15"/>
            <p:cNvPicPr>
              <a:picLocks noChangeAspect="1" noChangeArrowheads="1"/>
            </p:cNvPicPr>
            <p:nvPr/>
          </p:nvPicPr>
          <p:blipFill>
            <a:blip r:embed="rId17"/>
            <a:srcRect/>
            <a:stretch>
              <a:fillRect/>
            </a:stretch>
          </p:blipFill>
          <p:spPr bwMode="auto">
            <a:xfrm>
              <a:off x="4528" y="2274"/>
              <a:ext cx="111" cy="165"/>
            </a:xfrm>
            <a:prstGeom prst="rect">
              <a:avLst/>
            </a:prstGeom>
            <a:noFill/>
          </p:spPr>
        </p:pic>
        <p:pic>
          <p:nvPicPr>
            <p:cNvPr id="20" name="docshape16"/>
            <p:cNvPicPr>
              <a:picLocks noChangeAspect="1" noChangeArrowheads="1"/>
            </p:cNvPicPr>
            <p:nvPr/>
          </p:nvPicPr>
          <p:blipFill>
            <a:blip r:embed="rId18"/>
            <a:srcRect/>
            <a:stretch>
              <a:fillRect/>
            </a:stretch>
          </p:blipFill>
          <p:spPr bwMode="auto">
            <a:xfrm>
              <a:off x="4657" y="2274"/>
              <a:ext cx="217" cy="165"/>
            </a:xfrm>
            <a:prstGeom prst="rect">
              <a:avLst/>
            </a:prstGeom>
            <a:noFill/>
          </p:spPr>
        </p:pic>
        <p:pic>
          <p:nvPicPr>
            <p:cNvPr id="21" name="docshape17"/>
            <p:cNvPicPr>
              <a:picLocks noChangeAspect="1" noChangeArrowheads="1"/>
            </p:cNvPicPr>
            <p:nvPr/>
          </p:nvPicPr>
          <p:blipFill>
            <a:blip r:embed="rId19"/>
            <a:srcRect/>
            <a:stretch>
              <a:fillRect/>
            </a:stretch>
          </p:blipFill>
          <p:spPr bwMode="auto">
            <a:xfrm>
              <a:off x="4998" y="2267"/>
              <a:ext cx="39" cy="216"/>
            </a:xfrm>
            <a:prstGeom prst="rect">
              <a:avLst/>
            </a:prstGeom>
            <a:noFill/>
          </p:spPr>
        </p:pic>
        <p:pic>
          <p:nvPicPr>
            <p:cNvPr id="22" name="docshape18"/>
            <p:cNvPicPr>
              <a:picLocks noChangeAspect="1" noChangeArrowheads="1"/>
            </p:cNvPicPr>
            <p:nvPr/>
          </p:nvPicPr>
          <p:blipFill>
            <a:blip r:embed="rId20"/>
            <a:srcRect/>
            <a:stretch>
              <a:fillRect/>
            </a:stretch>
          </p:blipFill>
          <p:spPr bwMode="auto">
            <a:xfrm>
              <a:off x="5169" y="2274"/>
              <a:ext cx="173" cy="165"/>
            </a:xfrm>
            <a:prstGeom prst="rect">
              <a:avLst/>
            </a:prstGeom>
            <a:noFill/>
          </p:spPr>
        </p:pic>
        <p:pic>
          <p:nvPicPr>
            <p:cNvPr id="23" name="docshape19"/>
            <p:cNvPicPr>
              <a:picLocks noChangeAspect="1" noChangeArrowheads="1"/>
            </p:cNvPicPr>
            <p:nvPr/>
          </p:nvPicPr>
          <p:blipFill>
            <a:blip r:embed="rId21"/>
            <a:srcRect/>
            <a:stretch>
              <a:fillRect/>
            </a:stretch>
          </p:blipFill>
          <p:spPr bwMode="auto">
            <a:xfrm>
              <a:off x="5357" y="2274"/>
              <a:ext cx="155" cy="165"/>
            </a:xfrm>
            <a:prstGeom prst="rect">
              <a:avLst/>
            </a:prstGeom>
            <a:noFill/>
          </p:spPr>
        </p:pic>
        <p:pic>
          <p:nvPicPr>
            <p:cNvPr id="24" name="docshape20"/>
            <p:cNvPicPr>
              <a:picLocks noChangeAspect="1" noChangeArrowheads="1"/>
            </p:cNvPicPr>
            <p:nvPr/>
          </p:nvPicPr>
          <p:blipFill>
            <a:blip r:embed="rId22"/>
            <a:srcRect/>
            <a:stretch>
              <a:fillRect/>
            </a:stretch>
          </p:blipFill>
          <p:spPr bwMode="auto">
            <a:xfrm>
              <a:off x="5512" y="2271"/>
              <a:ext cx="133" cy="171"/>
            </a:xfrm>
            <a:prstGeom prst="rect">
              <a:avLst/>
            </a:prstGeom>
            <a:noFill/>
          </p:spPr>
        </p:pic>
        <p:pic>
          <p:nvPicPr>
            <p:cNvPr id="25" name="docshape21"/>
            <p:cNvPicPr>
              <a:picLocks noChangeAspect="1" noChangeArrowheads="1"/>
            </p:cNvPicPr>
            <p:nvPr/>
          </p:nvPicPr>
          <p:blipFill>
            <a:blip r:embed="rId23"/>
            <a:srcRect/>
            <a:stretch>
              <a:fillRect/>
            </a:stretch>
          </p:blipFill>
          <p:spPr bwMode="auto">
            <a:xfrm>
              <a:off x="5663" y="2274"/>
              <a:ext cx="141" cy="168"/>
            </a:xfrm>
            <a:prstGeom prst="rect">
              <a:avLst/>
            </a:prstGeom>
            <a:noFill/>
          </p:spPr>
        </p:pic>
        <p:pic>
          <p:nvPicPr>
            <p:cNvPr id="26" name="docshape22"/>
            <p:cNvPicPr>
              <a:picLocks noChangeAspect="1" noChangeArrowheads="1"/>
            </p:cNvPicPr>
            <p:nvPr/>
          </p:nvPicPr>
          <p:blipFill>
            <a:blip r:embed="rId24"/>
            <a:srcRect/>
            <a:stretch>
              <a:fillRect/>
            </a:stretch>
          </p:blipFill>
          <p:spPr bwMode="auto">
            <a:xfrm>
              <a:off x="5829" y="2274"/>
              <a:ext cx="152" cy="165"/>
            </a:xfrm>
            <a:prstGeom prst="rect">
              <a:avLst/>
            </a:prstGeom>
            <a:noFill/>
          </p:spPr>
        </p:pic>
        <p:pic>
          <p:nvPicPr>
            <p:cNvPr id="27" name="docshape23"/>
            <p:cNvPicPr>
              <a:picLocks noChangeAspect="1" noChangeArrowheads="1"/>
            </p:cNvPicPr>
            <p:nvPr/>
          </p:nvPicPr>
          <p:blipFill>
            <a:blip r:embed="rId25"/>
            <a:srcRect/>
            <a:stretch>
              <a:fillRect/>
            </a:stretch>
          </p:blipFill>
          <p:spPr bwMode="auto">
            <a:xfrm>
              <a:off x="5992" y="2274"/>
              <a:ext cx="141" cy="168"/>
            </a:xfrm>
            <a:prstGeom prst="rect">
              <a:avLst/>
            </a:prstGeom>
            <a:noFill/>
          </p:spPr>
        </p:pic>
        <p:pic>
          <p:nvPicPr>
            <p:cNvPr id="28" name="docshape24"/>
            <p:cNvPicPr>
              <a:picLocks noChangeAspect="1" noChangeArrowheads="1"/>
            </p:cNvPicPr>
            <p:nvPr/>
          </p:nvPicPr>
          <p:blipFill>
            <a:blip r:embed="rId26"/>
            <a:srcRect/>
            <a:stretch>
              <a:fillRect/>
            </a:stretch>
          </p:blipFill>
          <p:spPr bwMode="auto">
            <a:xfrm>
              <a:off x="6221" y="2351"/>
              <a:ext cx="74" cy="31"/>
            </a:xfrm>
            <a:prstGeom prst="rect">
              <a:avLst/>
            </a:prstGeom>
            <a:noFill/>
          </p:spPr>
        </p:pic>
        <p:pic>
          <p:nvPicPr>
            <p:cNvPr id="29" name="docshape25"/>
            <p:cNvPicPr>
              <a:picLocks noChangeAspect="1" noChangeArrowheads="1"/>
            </p:cNvPicPr>
            <p:nvPr/>
          </p:nvPicPr>
          <p:blipFill>
            <a:blip r:embed="rId27"/>
            <a:srcRect/>
            <a:stretch>
              <a:fillRect/>
            </a:stretch>
          </p:blipFill>
          <p:spPr bwMode="auto">
            <a:xfrm>
              <a:off x="6383" y="2274"/>
              <a:ext cx="122" cy="168"/>
            </a:xfrm>
            <a:prstGeom prst="rect">
              <a:avLst/>
            </a:prstGeom>
            <a:noFill/>
          </p:spPr>
        </p:pic>
        <p:pic>
          <p:nvPicPr>
            <p:cNvPr id="30" name="docshape26"/>
            <p:cNvPicPr>
              <a:picLocks noChangeAspect="1" noChangeArrowheads="1"/>
            </p:cNvPicPr>
            <p:nvPr/>
          </p:nvPicPr>
          <p:blipFill>
            <a:blip r:embed="rId28"/>
            <a:srcRect/>
            <a:stretch>
              <a:fillRect/>
            </a:stretch>
          </p:blipFill>
          <p:spPr bwMode="auto">
            <a:xfrm>
              <a:off x="6531" y="2274"/>
              <a:ext cx="122" cy="165"/>
            </a:xfrm>
            <a:prstGeom prst="rect">
              <a:avLst/>
            </a:prstGeom>
            <a:noFill/>
          </p:spPr>
        </p:pic>
        <p:pic>
          <p:nvPicPr>
            <p:cNvPr id="31" name="docshape27"/>
            <p:cNvPicPr>
              <a:picLocks noChangeAspect="1" noChangeArrowheads="1"/>
            </p:cNvPicPr>
            <p:nvPr/>
          </p:nvPicPr>
          <p:blipFill>
            <a:blip r:embed="rId29"/>
            <a:srcRect/>
            <a:stretch>
              <a:fillRect/>
            </a:stretch>
          </p:blipFill>
          <p:spPr bwMode="auto">
            <a:xfrm>
              <a:off x="6667" y="2271"/>
              <a:ext cx="128" cy="172"/>
            </a:xfrm>
            <a:prstGeom prst="rect">
              <a:avLst/>
            </a:prstGeom>
            <a:noFill/>
          </p:spPr>
        </p:pic>
        <p:pic>
          <p:nvPicPr>
            <p:cNvPr id="1024" name="docshape28"/>
            <p:cNvPicPr>
              <a:picLocks noChangeAspect="1" noChangeArrowheads="1"/>
            </p:cNvPicPr>
            <p:nvPr/>
          </p:nvPicPr>
          <p:blipFill>
            <a:blip r:embed="rId30"/>
            <a:srcRect/>
            <a:stretch>
              <a:fillRect/>
            </a:stretch>
          </p:blipFill>
          <p:spPr bwMode="auto">
            <a:xfrm>
              <a:off x="6876" y="2271"/>
              <a:ext cx="128" cy="172"/>
            </a:xfrm>
            <a:prstGeom prst="rect">
              <a:avLst/>
            </a:prstGeom>
            <a:noFill/>
          </p:spPr>
        </p:pic>
        <p:pic>
          <p:nvPicPr>
            <p:cNvPr id="1025" name="docshape29"/>
            <p:cNvPicPr>
              <a:picLocks noChangeAspect="1" noChangeArrowheads="1"/>
            </p:cNvPicPr>
            <p:nvPr/>
          </p:nvPicPr>
          <p:blipFill>
            <a:blip r:embed="rId31"/>
            <a:srcRect/>
            <a:stretch>
              <a:fillRect/>
            </a:stretch>
          </p:blipFill>
          <p:spPr bwMode="auto">
            <a:xfrm>
              <a:off x="7030" y="2274"/>
              <a:ext cx="110" cy="165"/>
            </a:xfrm>
            <a:prstGeom prst="rect">
              <a:avLst/>
            </a:prstGeom>
            <a:noFill/>
          </p:spPr>
        </p:pic>
        <p:pic>
          <p:nvPicPr>
            <p:cNvPr id="1027" name="docshape30"/>
            <p:cNvPicPr>
              <a:picLocks noChangeAspect="1" noChangeArrowheads="1"/>
            </p:cNvPicPr>
            <p:nvPr/>
          </p:nvPicPr>
          <p:blipFill>
            <a:blip r:embed="rId32"/>
            <a:srcRect/>
            <a:stretch>
              <a:fillRect/>
            </a:stretch>
          </p:blipFill>
          <p:spPr bwMode="auto">
            <a:xfrm>
              <a:off x="7165" y="2271"/>
              <a:ext cx="125" cy="171"/>
            </a:xfrm>
            <a:prstGeom prst="rect">
              <a:avLst/>
            </a:prstGeom>
            <a:noFill/>
          </p:spPr>
        </p:pic>
        <p:pic>
          <p:nvPicPr>
            <p:cNvPr id="32" name="docshape31"/>
            <p:cNvPicPr>
              <a:picLocks noChangeAspect="1" noChangeArrowheads="1"/>
            </p:cNvPicPr>
            <p:nvPr/>
          </p:nvPicPr>
          <p:blipFill>
            <a:blip r:embed="rId33"/>
            <a:srcRect/>
            <a:stretch>
              <a:fillRect/>
            </a:stretch>
          </p:blipFill>
          <p:spPr bwMode="auto">
            <a:xfrm>
              <a:off x="7415" y="2267"/>
              <a:ext cx="39" cy="216"/>
            </a:xfrm>
            <a:prstGeom prst="rect">
              <a:avLst/>
            </a:prstGeom>
            <a:noFill/>
          </p:spPr>
        </p:pic>
        <p:pic>
          <p:nvPicPr>
            <p:cNvPr id="33" name="docshape32"/>
            <p:cNvPicPr>
              <a:picLocks noChangeAspect="1" noChangeArrowheads="1"/>
            </p:cNvPicPr>
            <p:nvPr/>
          </p:nvPicPr>
          <p:blipFill>
            <a:blip r:embed="rId34"/>
            <a:srcRect/>
            <a:stretch>
              <a:fillRect/>
            </a:stretch>
          </p:blipFill>
          <p:spPr bwMode="auto">
            <a:xfrm>
              <a:off x="7520" y="2274"/>
              <a:ext cx="295" cy="165"/>
            </a:xfrm>
            <a:prstGeom prst="rect">
              <a:avLst/>
            </a:prstGeom>
            <a:noFill/>
          </p:spPr>
        </p:pic>
        <p:pic>
          <p:nvPicPr>
            <p:cNvPr id="34" name="docshape33"/>
            <p:cNvPicPr>
              <a:picLocks noChangeAspect="1" noChangeArrowheads="1"/>
            </p:cNvPicPr>
            <p:nvPr/>
          </p:nvPicPr>
          <p:blipFill>
            <a:blip r:embed="rId24"/>
            <a:srcRect/>
            <a:stretch>
              <a:fillRect/>
            </a:stretch>
          </p:blipFill>
          <p:spPr bwMode="auto">
            <a:xfrm>
              <a:off x="7831" y="2274"/>
              <a:ext cx="152" cy="165"/>
            </a:xfrm>
            <a:prstGeom prst="rect">
              <a:avLst/>
            </a:prstGeom>
            <a:noFill/>
          </p:spPr>
        </p:pic>
        <p:pic>
          <p:nvPicPr>
            <p:cNvPr id="35" name="docshape34"/>
            <p:cNvPicPr>
              <a:picLocks noChangeAspect="1" noChangeArrowheads="1"/>
            </p:cNvPicPr>
            <p:nvPr/>
          </p:nvPicPr>
          <p:blipFill>
            <a:blip r:embed="rId35"/>
            <a:srcRect/>
            <a:stretch>
              <a:fillRect/>
            </a:stretch>
          </p:blipFill>
          <p:spPr bwMode="auto">
            <a:xfrm>
              <a:off x="7994" y="2274"/>
              <a:ext cx="147" cy="165"/>
            </a:xfrm>
            <a:prstGeom prst="rect">
              <a:avLst/>
            </a:prstGeom>
            <a:noFill/>
          </p:spPr>
        </p:pic>
        <p:pic>
          <p:nvPicPr>
            <p:cNvPr id="36" name="docshape35"/>
            <p:cNvPicPr>
              <a:picLocks noChangeAspect="1" noChangeArrowheads="1"/>
            </p:cNvPicPr>
            <p:nvPr/>
          </p:nvPicPr>
          <p:blipFill>
            <a:blip r:embed="rId36"/>
            <a:srcRect/>
            <a:stretch>
              <a:fillRect/>
            </a:stretch>
          </p:blipFill>
          <p:spPr bwMode="auto">
            <a:xfrm>
              <a:off x="8149" y="2274"/>
              <a:ext cx="447" cy="165"/>
            </a:xfrm>
            <a:prstGeom prst="rect">
              <a:avLst/>
            </a:prstGeom>
            <a:noFill/>
          </p:spPr>
        </p:pic>
        <p:pic>
          <p:nvPicPr>
            <p:cNvPr id="37" name="docshape36"/>
            <p:cNvPicPr>
              <a:picLocks noChangeAspect="1" noChangeArrowheads="1"/>
            </p:cNvPicPr>
            <p:nvPr/>
          </p:nvPicPr>
          <p:blipFill>
            <a:blip r:embed="rId37"/>
            <a:srcRect/>
            <a:stretch>
              <a:fillRect/>
            </a:stretch>
          </p:blipFill>
          <p:spPr bwMode="auto">
            <a:xfrm>
              <a:off x="8612" y="2274"/>
              <a:ext cx="295" cy="165"/>
            </a:xfrm>
            <a:prstGeom prst="rect">
              <a:avLst/>
            </a:prstGeom>
            <a:noFill/>
          </p:spPr>
        </p:pic>
        <p:pic>
          <p:nvPicPr>
            <p:cNvPr id="38" name="docshape37"/>
            <p:cNvPicPr>
              <a:picLocks noChangeAspect="1" noChangeArrowheads="1"/>
            </p:cNvPicPr>
            <p:nvPr/>
          </p:nvPicPr>
          <p:blipFill>
            <a:blip r:embed="rId38"/>
            <a:srcRect/>
            <a:stretch>
              <a:fillRect/>
            </a:stretch>
          </p:blipFill>
          <p:spPr bwMode="auto">
            <a:xfrm>
              <a:off x="9026" y="2267"/>
              <a:ext cx="39" cy="216"/>
            </a:xfrm>
            <a:prstGeom prst="rect">
              <a:avLst/>
            </a:prstGeom>
            <a:noFill/>
          </p:spPr>
        </p:pic>
        <p:pic>
          <p:nvPicPr>
            <p:cNvPr id="39" name="docshape38"/>
            <p:cNvPicPr>
              <a:picLocks noChangeAspect="1" noChangeArrowheads="1"/>
            </p:cNvPicPr>
            <p:nvPr/>
          </p:nvPicPr>
          <p:blipFill>
            <a:blip r:embed="rId39"/>
            <a:srcRect/>
            <a:stretch>
              <a:fillRect/>
            </a:stretch>
          </p:blipFill>
          <p:spPr bwMode="auto">
            <a:xfrm>
              <a:off x="9191" y="2274"/>
              <a:ext cx="95" cy="165"/>
            </a:xfrm>
            <a:prstGeom prst="rect">
              <a:avLst/>
            </a:prstGeom>
            <a:noFill/>
          </p:spPr>
        </p:pic>
        <p:pic>
          <p:nvPicPr>
            <p:cNvPr id="40" name="docshape39"/>
            <p:cNvPicPr>
              <a:picLocks noChangeAspect="1" noChangeArrowheads="1"/>
            </p:cNvPicPr>
            <p:nvPr/>
          </p:nvPicPr>
          <p:blipFill>
            <a:blip r:embed="rId40"/>
            <a:srcRect/>
            <a:stretch>
              <a:fillRect/>
            </a:stretch>
          </p:blipFill>
          <p:spPr bwMode="auto">
            <a:xfrm>
              <a:off x="9306" y="2274"/>
              <a:ext cx="147" cy="165"/>
            </a:xfrm>
            <a:prstGeom prst="rect">
              <a:avLst/>
            </a:prstGeom>
            <a:noFill/>
          </p:spPr>
        </p:pic>
        <p:pic>
          <p:nvPicPr>
            <p:cNvPr id="41" name="docshape40"/>
            <p:cNvPicPr>
              <a:picLocks noChangeAspect="1" noChangeArrowheads="1"/>
            </p:cNvPicPr>
            <p:nvPr/>
          </p:nvPicPr>
          <p:blipFill>
            <a:blip r:embed="rId41"/>
            <a:srcRect/>
            <a:stretch>
              <a:fillRect/>
            </a:stretch>
          </p:blipFill>
          <p:spPr bwMode="auto">
            <a:xfrm>
              <a:off x="9479" y="2274"/>
              <a:ext cx="258" cy="165"/>
            </a:xfrm>
            <a:prstGeom prst="rect">
              <a:avLst/>
            </a:prstGeom>
            <a:noFill/>
          </p:spPr>
        </p:pic>
        <p:pic>
          <p:nvPicPr>
            <p:cNvPr id="42" name="docshape41"/>
            <p:cNvPicPr>
              <a:picLocks noChangeAspect="1" noChangeArrowheads="1"/>
            </p:cNvPicPr>
            <p:nvPr/>
          </p:nvPicPr>
          <p:blipFill>
            <a:blip r:embed="rId42"/>
            <a:srcRect/>
            <a:stretch>
              <a:fillRect/>
            </a:stretch>
          </p:blipFill>
          <p:spPr bwMode="auto">
            <a:xfrm>
              <a:off x="9741" y="2274"/>
              <a:ext cx="156" cy="165"/>
            </a:xfrm>
            <a:prstGeom prst="rect">
              <a:avLst/>
            </a:prstGeom>
            <a:noFill/>
          </p:spPr>
        </p:pic>
        <p:pic>
          <p:nvPicPr>
            <p:cNvPr id="43" name="docshape42"/>
            <p:cNvPicPr>
              <a:picLocks noChangeAspect="1" noChangeArrowheads="1"/>
            </p:cNvPicPr>
            <p:nvPr/>
          </p:nvPicPr>
          <p:blipFill>
            <a:blip r:embed="rId43"/>
            <a:srcRect/>
            <a:stretch>
              <a:fillRect/>
            </a:stretch>
          </p:blipFill>
          <p:spPr bwMode="auto">
            <a:xfrm>
              <a:off x="7216" y="451"/>
              <a:ext cx="32" cy="1428"/>
            </a:xfrm>
            <a:prstGeom prst="rect">
              <a:avLst/>
            </a:prstGeom>
            <a:noFill/>
          </p:spPr>
        </p:pic>
        <p:pic>
          <p:nvPicPr>
            <p:cNvPr id="44" name="docshape43"/>
            <p:cNvPicPr>
              <a:picLocks noChangeAspect="1" noChangeArrowheads="1"/>
            </p:cNvPicPr>
            <p:nvPr/>
          </p:nvPicPr>
          <p:blipFill>
            <a:blip r:embed="rId44"/>
            <a:srcRect/>
            <a:stretch>
              <a:fillRect/>
            </a:stretch>
          </p:blipFill>
          <p:spPr bwMode="auto">
            <a:xfrm>
              <a:off x="2253" y="1987"/>
              <a:ext cx="166" cy="151"/>
            </a:xfrm>
            <a:prstGeom prst="rect">
              <a:avLst/>
            </a:prstGeom>
            <a:noFill/>
          </p:spPr>
        </p:pic>
        <p:pic>
          <p:nvPicPr>
            <p:cNvPr id="45" name="docshape44"/>
            <p:cNvPicPr>
              <a:picLocks noChangeAspect="1" noChangeArrowheads="1"/>
            </p:cNvPicPr>
            <p:nvPr/>
          </p:nvPicPr>
          <p:blipFill>
            <a:blip r:embed="rId45"/>
            <a:srcRect/>
            <a:stretch>
              <a:fillRect/>
            </a:stretch>
          </p:blipFill>
          <p:spPr bwMode="auto">
            <a:xfrm>
              <a:off x="2686" y="2018"/>
              <a:ext cx="90" cy="91"/>
            </a:xfrm>
            <a:prstGeom prst="rect">
              <a:avLst/>
            </a:prstGeom>
            <a:noFill/>
          </p:spPr>
        </p:pic>
        <p:pic>
          <p:nvPicPr>
            <p:cNvPr id="46" name="docshape45"/>
            <p:cNvPicPr>
              <a:picLocks noChangeAspect="1" noChangeArrowheads="1"/>
            </p:cNvPicPr>
            <p:nvPr/>
          </p:nvPicPr>
          <p:blipFill>
            <a:blip r:embed="rId46"/>
            <a:srcRect/>
            <a:stretch>
              <a:fillRect/>
            </a:stretch>
          </p:blipFill>
          <p:spPr bwMode="auto">
            <a:xfrm>
              <a:off x="2429" y="1987"/>
              <a:ext cx="262" cy="120"/>
            </a:xfrm>
            <a:prstGeom prst="rect">
              <a:avLst/>
            </a:prstGeom>
            <a:noFill/>
          </p:spPr>
        </p:pic>
        <p:pic>
          <p:nvPicPr>
            <p:cNvPr id="47" name="docshape46"/>
            <p:cNvPicPr>
              <a:picLocks noChangeAspect="1" noChangeArrowheads="1"/>
            </p:cNvPicPr>
            <p:nvPr/>
          </p:nvPicPr>
          <p:blipFill>
            <a:blip r:embed="rId47"/>
            <a:srcRect/>
            <a:stretch>
              <a:fillRect/>
            </a:stretch>
          </p:blipFill>
          <p:spPr bwMode="auto">
            <a:xfrm>
              <a:off x="2787" y="1996"/>
              <a:ext cx="153" cy="113"/>
            </a:xfrm>
            <a:prstGeom prst="rect">
              <a:avLst/>
            </a:prstGeom>
            <a:noFill/>
          </p:spPr>
        </p:pic>
        <p:pic>
          <p:nvPicPr>
            <p:cNvPr id="48" name="docshape47"/>
            <p:cNvPicPr>
              <a:picLocks noChangeAspect="1" noChangeArrowheads="1"/>
            </p:cNvPicPr>
            <p:nvPr/>
          </p:nvPicPr>
          <p:blipFill>
            <a:blip r:embed="rId48"/>
            <a:srcRect/>
            <a:stretch>
              <a:fillRect/>
            </a:stretch>
          </p:blipFill>
          <p:spPr bwMode="auto">
            <a:xfrm>
              <a:off x="2941" y="1987"/>
              <a:ext cx="101" cy="122"/>
            </a:xfrm>
            <a:prstGeom prst="rect">
              <a:avLst/>
            </a:prstGeom>
            <a:noFill/>
          </p:spPr>
        </p:pic>
        <p:pic>
          <p:nvPicPr>
            <p:cNvPr id="49" name="docshape48"/>
            <p:cNvPicPr>
              <a:picLocks noChangeAspect="1" noChangeArrowheads="1"/>
            </p:cNvPicPr>
            <p:nvPr/>
          </p:nvPicPr>
          <p:blipFill>
            <a:blip r:embed="rId49"/>
            <a:srcRect/>
            <a:stretch>
              <a:fillRect/>
            </a:stretch>
          </p:blipFill>
          <p:spPr bwMode="auto">
            <a:xfrm>
              <a:off x="3090" y="1996"/>
              <a:ext cx="155" cy="114"/>
            </a:xfrm>
            <a:prstGeom prst="rect">
              <a:avLst/>
            </a:prstGeom>
            <a:noFill/>
          </p:spPr>
        </p:pic>
        <p:pic>
          <p:nvPicPr>
            <p:cNvPr id="50" name="docshape49"/>
            <p:cNvPicPr>
              <a:picLocks noChangeAspect="1" noChangeArrowheads="1"/>
            </p:cNvPicPr>
            <p:nvPr/>
          </p:nvPicPr>
          <p:blipFill>
            <a:blip r:embed="rId50"/>
            <a:srcRect/>
            <a:stretch>
              <a:fillRect/>
            </a:stretch>
          </p:blipFill>
          <p:spPr bwMode="auto">
            <a:xfrm>
              <a:off x="3443" y="2018"/>
              <a:ext cx="84" cy="91"/>
            </a:xfrm>
            <a:prstGeom prst="rect">
              <a:avLst/>
            </a:prstGeom>
            <a:noFill/>
          </p:spPr>
        </p:pic>
        <p:pic>
          <p:nvPicPr>
            <p:cNvPr id="51" name="docshape50"/>
            <p:cNvPicPr>
              <a:picLocks noChangeAspect="1" noChangeArrowheads="1"/>
            </p:cNvPicPr>
            <p:nvPr/>
          </p:nvPicPr>
          <p:blipFill>
            <a:blip r:embed="rId51"/>
            <a:srcRect/>
            <a:stretch>
              <a:fillRect/>
            </a:stretch>
          </p:blipFill>
          <p:spPr bwMode="auto">
            <a:xfrm>
              <a:off x="3303" y="1987"/>
              <a:ext cx="146" cy="120"/>
            </a:xfrm>
            <a:prstGeom prst="rect">
              <a:avLst/>
            </a:prstGeom>
            <a:noFill/>
          </p:spPr>
        </p:pic>
        <p:pic>
          <p:nvPicPr>
            <p:cNvPr id="52" name="docshape51"/>
            <p:cNvPicPr>
              <a:picLocks noChangeAspect="1" noChangeArrowheads="1"/>
            </p:cNvPicPr>
            <p:nvPr/>
          </p:nvPicPr>
          <p:blipFill>
            <a:blip r:embed="rId52"/>
            <a:srcRect/>
            <a:stretch>
              <a:fillRect/>
            </a:stretch>
          </p:blipFill>
          <p:spPr bwMode="auto">
            <a:xfrm>
              <a:off x="3534" y="2018"/>
              <a:ext cx="599" cy="92"/>
            </a:xfrm>
            <a:prstGeom prst="rect">
              <a:avLst/>
            </a:prstGeom>
            <a:noFill/>
          </p:spPr>
        </p:pic>
        <p:pic>
          <p:nvPicPr>
            <p:cNvPr id="53" name="docshape52"/>
            <p:cNvPicPr>
              <a:picLocks noChangeAspect="1" noChangeArrowheads="1"/>
            </p:cNvPicPr>
            <p:nvPr/>
          </p:nvPicPr>
          <p:blipFill>
            <a:blip r:embed="rId53"/>
            <a:srcRect/>
            <a:stretch>
              <a:fillRect/>
            </a:stretch>
          </p:blipFill>
          <p:spPr bwMode="auto">
            <a:xfrm>
              <a:off x="4143" y="1993"/>
              <a:ext cx="415" cy="146"/>
            </a:xfrm>
            <a:prstGeom prst="rect">
              <a:avLst/>
            </a:prstGeom>
            <a:noFill/>
          </p:spPr>
        </p:pic>
        <p:pic>
          <p:nvPicPr>
            <p:cNvPr id="54" name="docshape53"/>
            <p:cNvPicPr>
              <a:picLocks noChangeAspect="1" noChangeArrowheads="1"/>
            </p:cNvPicPr>
            <p:nvPr/>
          </p:nvPicPr>
          <p:blipFill>
            <a:blip r:embed="rId54"/>
            <a:srcRect/>
            <a:stretch>
              <a:fillRect/>
            </a:stretch>
          </p:blipFill>
          <p:spPr bwMode="auto">
            <a:xfrm>
              <a:off x="4560" y="1987"/>
              <a:ext cx="377" cy="122"/>
            </a:xfrm>
            <a:prstGeom prst="rect">
              <a:avLst/>
            </a:prstGeom>
            <a:noFill/>
          </p:spPr>
        </p:pic>
        <p:pic>
          <p:nvPicPr>
            <p:cNvPr id="55" name="docshape54"/>
            <p:cNvPicPr>
              <a:picLocks noChangeAspect="1" noChangeArrowheads="1"/>
            </p:cNvPicPr>
            <p:nvPr/>
          </p:nvPicPr>
          <p:blipFill>
            <a:blip r:embed="rId55"/>
            <a:srcRect/>
            <a:stretch>
              <a:fillRect/>
            </a:stretch>
          </p:blipFill>
          <p:spPr bwMode="auto">
            <a:xfrm>
              <a:off x="4941" y="1987"/>
              <a:ext cx="515" cy="152"/>
            </a:xfrm>
            <a:prstGeom prst="rect">
              <a:avLst/>
            </a:prstGeom>
            <a:noFill/>
          </p:spPr>
        </p:pic>
        <p:pic>
          <p:nvPicPr>
            <p:cNvPr id="56" name="docshape55"/>
            <p:cNvPicPr>
              <a:picLocks noChangeAspect="1" noChangeArrowheads="1"/>
            </p:cNvPicPr>
            <p:nvPr/>
          </p:nvPicPr>
          <p:blipFill>
            <a:blip r:embed="rId56"/>
            <a:srcRect/>
            <a:stretch>
              <a:fillRect/>
            </a:stretch>
          </p:blipFill>
          <p:spPr bwMode="auto">
            <a:xfrm>
              <a:off x="5506" y="1987"/>
              <a:ext cx="641" cy="122"/>
            </a:xfrm>
            <a:prstGeom prst="rect">
              <a:avLst/>
            </a:prstGeom>
            <a:noFill/>
          </p:spPr>
        </p:pic>
        <p:pic>
          <p:nvPicPr>
            <p:cNvPr id="57" name="docshape56"/>
            <p:cNvPicPr>
              <a:picLocks noChangeAspect="1" noChangeArrowheads="1"/>
            </p:cNvPicPr>
            <p:nvPr/>
          </p:nvPicPr>
          <p:blipFill>
            <a:blip r:embed="rId57"/>
            <a:srcRect/>
            <a:stretch>
              <a:fillRect/>
            </a:stretch>
          </p:blipFill>
          <p:spPr bwMode="auto">
            <a:xfrm>
              <a:off x="6148" y="1993"/>
              <a:ext cx="446" cy="146"/>
            </a:xfrm>
            <a:prstGeom prst="rect">
              <a:avLst/>
            </a:prstGeom>
            <a:noFill/>
          </p:spPr>
        </p:pic>
        <p:pic>
          <p:nvPicPr>
            <p:cNvPr id="58" name="docshape57"/>
            <p:cNvPicPr>
              <a:picLocks noChangeAspect="1" noChangeArrowheads="1"/>
            </p:cNvPicPr>
            <p:nvPr/>
          </p:nvPicPr>
          <p:blipFill>
            <a:blip r:embed="rId58"/>
            <a:srcRect/>
            <a:stretch>
              <a:fillRect/>
            </a:stretch>
          </p:blipFill>
          <p:spPr bwMode="auto">
            <a:xfrm>
              <a:off x="6597" y="1987"/>
              <a:ext cx="506" cy="152"/>
            </a:xfrm>
            <a:prstGeom prst="rect">
              <a:avLst/>
            </a:prstGeom>
            <a:noFill/>
          </p:spPr>
        </p:pic>
        <p:pic>
          <p:nvPicPr>
            <p:cNvPr id="59" name="docshape58"/>
            <p:cNvPicPr>
              <a:picLocks noChangeAspect="1" noChangeArrowheads="1"/>
            </p:cNvPicPr>
            <p:nvPr/>
          </p:nvPicPr>
          <p:blipFill>
            <a:blip r:embed="rId59"/>
            <a:srcRect/>
            <a:stretch>
              <a:fillRect/>
            </a:stretch>
          </p:blipFill>
          <p:spPr bwMode="auto">
            <a:xfrm>
              <a:off x="7153" y="1993"/>
              <a:ext cx="109" cy="115"/>
            </a:xfrm>
            <a:prstGeom prst="rect">
              <a:avLst/>
            </a:prstGeom>
            <a:noFill/>
          </p:spPr>
        </p:pic>
        <p:pic>
          <p:nvPicPr>
            <p:cNvPr id="60" name="docshape59"/>
            <p:cNvPicPr>
              <a:picLocks noChangeAspect="1" noChangeArrowheads="1"/>
            </p:cNvPicPr>
            <p:nvPr/>
          </p:nvPicPr>
          <p:blipFill>
            <a:blip r:embed="rId60"/>
            <a:srcRect/>
            <a:stretch>
              <a:fillRect/>
            </a:stretch>
          </p:blipFill>
          <p:spPr bwMode="auto">
            <a:xfrm>
              <a:off x="7266" y="2018"/>
              <a:ext cx="550" cy="121"/>
            </a:xfrm>
            <a:prstGeom prst="rect">
              <a:avLst/>
            </a:prstGeom>
            <a:noFill/>
          </p:spPr>
        </p:pic>
        <p:pic>
          <p:nvPicPr>
            <p:cNvPr id="61" name="docshape60"/>
            <p:cNvPicPr>
              <a:picLocks noChangeAspect="1" noChangeArrowheads="1"/>
            </p:cNvPicPr>
            <p:nvPr/>
          </p:nvPicPr>
          <p:blipFill>
            <a:blip r:embed="rId61"/>
            <a:srcRect/>
            <a:stretch>
              <a:fillRect/>
            </a:stretch>
          </p:blipFill>
          <p:spPr bwMode="auto">
            <a:xfrm>
              <a:off x="7817" y="1987"/>
              <a:ext cx="341" cy="151"/>
            </a:xfrm>
            <a:prstGeom prst="rect">
              <a:avLst/>
            </a:prstGeom>
            <a:noFill/>
          </p:spPr>
        </p:pic>
        <p:pic>
          <p:nvPicPr>
            <p:cNvPr id="62" name="docshape61"/>
            <p:cNvPicPr>
              <a:picLocks noChangeAspect="1" noChangeArrowheads="1"/>
            </p:cNvPicPr>
            <p:nvPr/>
          </p:nvPicPr>
          <p:blipFill>
            <a:blip r:embed="rId62"/>
            <a:srcRect/>
            <a:stretch>
              <a:fillRect/>
            </a:stretch>
          </p:blipFill>
          <p:spPr bwMode="auto">
            <a:xfrm>
              <a:off x="8188" y="1993"/>
              <a:ext cx="197" cy="115"/>
            </a:xfrm>
            <a:prstGeom prst="rect">
              <a:avLst/>
            </a:prstGeom>
            <a:noFill/>
          </p:spPr>
        </p:pic>
        <p:pic>
          <p:nvPicPr>
            <p:cNvPr id="63" name="docshape62"/>
            <p:cNvPicPr>
              <a:picLocks noChangeAspect="1" noChangeArrowheads="1"/>
            </p:cNvPicPr>
            <p:nvPr/>
          </p:nvPicPr>
          <p:blipFill>
            <a:blip r:embed="rId63"/>
            <a:srcRect/>
            <a:stretch>
              <a:fillRect/>
            </a:stretch>
          </p:blipFill>
          <p:spPr bwMode="auto">
            <a:xfrm>
              <a:off x="8385" y="1990"/>
              <a:ext cx="105" cy="119"/>
            </a:xfrm>
            <a:prstGeom prst="rect">
              <a:avLst/>
            </a:prstGeom>
            <a:noFill/>
          </p:spPr>
        </p:pic>
        <p:pic>
          <p:nvPicPr>
            <p:cNvPr id="64" name="docshape63"/>
            <p:cNvPicPr>
              <a:picLocks noChangeAspect="1" noChangeArrowheads="1"/>
            </p:cNvPicPr>
            <p:nvPr/>
          </p:nvPicPr>
          <p:blipFill>
            <a:blip r:embed="rId64"/>
            <a:srcRect/>
            <a:stretch>
              <a:fillRect/>
            </a:stretch>
          </p:blipFill>
          <p:spPr bwMode="auto">
            <a:xfrm>
              <a:off x="8492" y="1993"/>
              <a:ext cx="189" cy="115"/>
            </a:xfrm>
            <a:prstGeom prst="rect">
              <a:avLst/>
            </a:prstGeom>
            <a:noFill/>
          </p:spPr>
        </p:pic>
        <p:pic>
          <p:nvPicPr>
            <p:cNvPr id="65" name="docshape64"/>
            <p:cNvPicPr>
              <a:picLocks noChangeAspect="1" noChangeArrowheads="1"/>
            </p:cNvPicPr>
            <p:nvPr/>
          </p:nvPicPr>
          <p:blipFill>
            <a:blip r:embed="rId65"/>
            <a:srcRect/>
            <a:stretch>
              <a:fillRect/>
            </a:stretch>
          </p:blipFill>
          <p:spPr bwMode="auto">
            <a:xfrm>
              <a:off x="8727" y="1993"/>
              <a:ext cx="357" cy="117"/>
            </a:xfrm>
            <a:prstGeom prst="rect">
              <a:avLst/>
            </a:prstGeom>
            <a:noFill/>
          </p:spPr>
        </p:pic>
        <p:pic>
          <p:nvPicPr>
            <p:cNvPr id="66" name="docshape65"/>
            <p:cNvPicPr>
              <a:picLocks noChangeAspect="1" noChangeArrowheads="1"/>
            </p:cNvPicPr>
            <p:nvPr/>
          </p:nvPicPr>
          <p:blipFill>
            <a:blip r:embed="rId66"/>
            <a:srcRect/>
            <a:stretch>
              <a:fillRect/>
            </a:stretch>
          </p:blipFill>
          <p:spPr bwMode="auto">
            <a:xfrm>
              <a:off x="9126" y="1993"/>
              <a:ext cx="208" cy="117"/>
            </a:xfrm>
            <a:prstGeom prst="rect">
              <a:avLst/>
            </a:prstGeom>
            <a:noFill/>
          </p:spPr>
        </p:pic>
        <p:pic>
          <p:nvPicPr>
            <p:cNvPr id="67" name="docshape66"/>
            <p:cNvPicPr>
              <a:picLocks noChangeAspect="1" noChangeArrowheads="1"/>
            </p:cNvPicPr>
            <p:nvPr/>
          </p:nvPicPr>
          <p:blipFill>
            <a:blip r:embed="rId67"/>
            <a:srcRect/>
            <a:stretch>
              <a:fillRect/>
            </a:stretch>
          </p:blipFill>
          <p:spPr bwMode="auto">
            <a:xfrm>
              <a:off x="9337" y="1987"/>
              <a:ext cx="197" cy="120"/>
            </a:xfrm>
            <a:prstGeom prst="rect">
              <a:avLst/>
            </a:prstGeom>
            <a:noFill/>
          </p:spPr>
        </p:pic>
        <p:pic>
          <p:nvPicPr>
            <p:cNvPr id="68" name="docshape67"/>
            <p:cNvPicPr>
              <a:picLocks noChangeAspect="1" noChangeArrowheads="1"/>
            </p:cNvPicPr>
            <p:nvPr/>
          </p:nvPicPr>
          <p:blipFill>
            <a:blip r:embed="rId68"/>
            <a:srcRect/>
            <a:stretch>
              <a:fillRect/>
            </a:stretch>
          </p:blipFill>
          <p:spPr bwMode="auto">
            <a:xfrm>
              <a:off x="9578" y="1990"/>
              <a:ext cx="117" cy="119"/>
            </a:xfrm>
            <a:prstGeom prst="rect">
              <a:avLst/>
            </a:prstGeom>
            <a:noFill/>
          </p:spPr>
        </p:pic>
        <p:pic>
          <p:nvPicPr>
            <p:cNvPr id="69" name="docshape68"/>
            <p:cNvPicPr>
              <a:picLocks noChangeAspect="1" noChangeArrowheads="1"/>
            </p:cNvPicPr>
            <p:nvPr/>
          </p:nvPicPr>
          <p:blipFill>
            <a:blip r:embed="rId69"/>
            <a:srcRect/>
            <a:stretch>
              <a:fillRect/>
            </a:stretch>
          </p:blipFill>
          <p:spPr bwMode="auto">
            <a:xfrm>
              <a:off x="9750" y="1990"/>
              <a:ext cx="207" cy="120"/>
            </a:xfrm>
            <a:prstGeom prst="rect">
              <a:avLst/>
            </a:prstGeom>
            <a:noFill/>
          </p:spPr>
        </p:pic>
        <p:pic>
          <p:nvPicPr>
            <p:cNvPr id="70" name="docshape69"/>
            <p:cNvPicPr>
              <a:picLocks noChangeAspect="1" noChangeArrowheads="1"/>
            </p:cNvPicPr>
            <p:nvPr/>
          </p:nvPicPr>
          <p:blipFill>
            <a:blip r:embed="rId70"/>
            <a:srcRect/>
            <a:stretch>
              <a:fillRect/>
            </a:stretch>
          </p:blipFill>
          <p:spPr bwMode="auto">
            <a:xfrm>
              <a:off x="9965" y="1996"/>
              <a:ext cx="185" cy="113"/>
            </a:xfrm>
            <a:prstGeom prst="rect">
              <a:avLst/>
            </a:prstGeom>
            <a:noFill/>
          </p:spPr>
        </p:pic>
        <p:pic>
          <p:nvPicPr>
            <p:cNvPr id="71" name="docshape70"/>
            <p:cNvPicPr>
              <a:picLocks noChangeAspect="1" noChangeArrowheads="1"/>
            </p:cNvPicPr>
            <p:nvPr/>
          </p:nvPicPr>
          <p:blipFill>
            <a:blip r:embed="rId71"/>
            <a:srcRect/>
            <a:stretch>
              <a:fillRect/>
            </a:stretch>
          </p:blipFill>
          <p:spPr bwMode="auto">
            <a:xfrm>
              <a:off x="10210" y="1987"/>
              <a:ext cx="174" cy="123"/>
            </a:xfrm>
            <a:prstGeom prst="rect">
              <a:avLst/>
            </a:prstGeom>
            <a:noFill/>
          </p:spPr>
        </p:pic>
        <p:pic>
          <p:nvPicPr>
            <p:cNvPr id="72" name="docshape71"/>
            <p:cNvPicPr>
              <a:picLocks noChangeAspect="1" noChangeArrowheads="1"/>
            </p:cNvPicPr>
            <p:nvPr/>
          </p:nvPicPr>
          <p:blipFill>
            <a:blip r:embed="rId72"/>
            <a:srcRect/>
            <a:stretch>
              <a:fillRect/>
            </a:stretch>
          </p:blipFill>
          <p:spPr bwMode="auto">
            <a:xfrm>
              <a:off x="10416" y="1993"/>
              <a:ext cx="457" cy="117"/>
            </a:xfrm>
            <a:prstGeom prst="rect">
              <a:avLst/>
            </a:prstGeom>
            <a:noFill/>
          </p:spPr>
        </p:pic>
        <p:pic>
          <p:nvPicPr>
            <p:cNvPr id="73" name="docshape72"/>
            <p:cNvPicPr>
              <a:picLocks noChangeAspect="1" noChangeArrowheads="1"/>
            </p:cNvPicPr>
            <p:nvPr/>
          </p:nvPicPr>
          <p:blipFill>
            <a:blip r:embed="rId73"/>
            <a:srcRect/>
            <a:stretch>
              <a:fillRect/>
            </a:stretch>
          </p:blipFill>
          <p:spPr bwMode="auto">
            <a:xfrm>
              <a:off x="10883" y="1996"/>
              <a:ext cx="148" cy="113"/>
            </a:xfrm>
            <a:prstGeom prst="rect">
              <a:avLst/>
            </a:prstGeom>
            <a:noFill/>
          </p:spPr>
        </p:pic>
        <p:pic>
          <p:nvPicPr>
            <p:cNvPr id="74" name="docshape73"/>
            <p:cNvPicPr>
              <a:picLocks noChangeAspect="1" noChangeArrowheads="1"/>
            </p:cNvPicPr>
            <p:nvPr/>
          </p:nvPicPr>
          <p:blipFill>
            <a:blip r:embed="rId74"/>
            <a:srcRect/>
            <a:stretch>
              <a:fillRect/>
            </a:stretch>
          </p:blipFill>
          <p:spPr bwMode="auto">
            <a:xfrm>
              <a:off x="11039" y="1987"/>
              <a:ext cx="297" cy="151"/>
            </a:xfrm>
            <a:prstGeom prst="rect">
              <a:avLst/>
            </a:prstGeom>
            <a:noFill/>
          </p:spPr>
        </p:pic>
        <p:pic>
          <p:nvPicPr>
            <p:cNvPr id="75" name="docshape74"/>
            <p:cNvPicPr>
              <a:picLocks noChangeAspect="1" noChangeArrowheads="1"/>
            </p:cNvPicPr>
            <p:nvPr/>
          </p:nvPicPr>
          <p:blipFill>
            <a:blip r:embed="rId75"/>
            <a:srcRect/>
            <a:stretch>
              <a:fillRect/>
            </a:stretch>
          </p:blipFill>
          <p:spPr bwMode="auto">
            <a:xfrm>
              <a:off x="580" y="2716"/>
              <a:ext cx="485" cy="156"/>
            </a:xfrm>
            <a:prstGeom prst="rect">
              <a:avLst/>
            </a:prstGeom>
            <a:noFill/>
          </p:spPr>
        </p:pic>
        <p:pic>
          <p:nvPicPr>
            <p:cNvPr id="76" name="docshape75"/>
            <p:cNvPicPr>
              <a:picLocks noChangeAspect="1" noChangeArrowheads="1"/>
            </p:cNvPicPr>
            <p:nvPr/>
          </p:nvPicPr>
          <p:blipFill>
            <a:blip r:embed="rId76"/>
            <a:srcRect/>
            <a:stretch>
              <a:fillRect/>
            </a:stretch>
          </p:blipFill>
          <p:spPr bwMode="auto">
            <a:xfrm>
              <a:off x="1129" y="2758"/>
              <a:ext cx="29" cy="110"/>
            </a:xfrm>
            <a:prstGeom prst="rect">
              <a:avLst/>
            </a:prstGeom>
            <a:noFill/>
          </p:spPr>
        </p:pic>
        <p:pic>
          <p:nvPicPr>
            <p:cNvPr id="77" name="docshape76"/>
            <p:cNvPicPr>
              <a:picLocks noChangeAspect="1" noChangeArrowheads="1"/>
            </p:cNvPicPr>
            <p:nvPr/>
          </p:nvPicPr>
          <p:blipFill>
            <a:blip r:embed="rId77"/>
            <a:srcRect/>
            <a:stretch>
              <a:fillRect/>
            </a:stretch>
          </p:blipFill>
          <p:spPr bwMode="auto">
            <a:xfrm>
              <a:off x="1229" y="2719"/>
              <a:ext cx="327" cy="153"/>
            </a:xfrm>
            <a:prstGeom prst="rect">
              <a:avLst/>
            </a:prstGeom>
            <a:noFill/>
          </p:spPr>
        </p:pic>
        <p:pic>
          <p:nvPicPr>
            <p:cNvPr id="78" name="docshape77"/>
            <p:cNvPicPr>
              <a:picLocks noChangeAspect="1" noChangeArrowheads="1"/>
            </p:cNvPicPr>
            <p:nvPr/>
          </p:nvPicPr>
          <p:blipFill>
            <a:blip r:embed="rId78"/>
            <a:srcRect/>
            <a:stretch>
              <a:fillRect/>
            </a:stretch>
          </p:blipFill>
          <p:spPr bwMode="auto">
            <a:xfrm>
              <a:off x="1625" y="2795"/>
              <a:ext cx="44" cy="18"/>
            </a:xfrm>
            <a:prstGeom prst="rect">
              <a:avLst/>
            </a:prstGeom>
            <a:noFill/>
          </p:spPr>
        </p:pic>
        <p:pic>
          <p:nvPicPr>
            <p:cNvPr id="79" name="docshape78"/>
            <p:cNvPicPr>
              <a:picLocks noChangeAspect="1" noChangeArrowheads="1"/>
            </p:cNvPicPr>
            <p:nvPr/>
          </p:nvPicPr>
          <p:blipFill>
            <a:blip r:embed="rId79"/>
            <a:srcRect/>
            <a:stretch>
              <a:fillRect/>
            </a:stretch>
          </p:blipFill>
          <p:spPr bwMode="auto">
            <a:xfrm>
              <a:off x="1734" y="2716"/>
              <a:ext cx="1360" cy="189"/>
            </a:xfrm>
            <a:prstGeom prst="rect">
              <a:avLst/>
            </a:prstGeom>
            <a:noFill/>
          </p:spPr>
        </p:pic>
        <p:pic>
          <p:nvPicPr>
            <p:cNvPr id="80" name="docshape79"/>
            <p:cNvPicPr>
              <a:picLocks noChangeAspect="1" noChangeArrowheads="1"/>
            </p:cNvPicPr>
            <p:nvPr/>
          </p:nvPicPr>
          <p:blipFill>
            <a:blip r:embed="rId80"/>
            <a:srcRect/>
            <a:stretch>
              <a:fillRect/>
            </a:stretch>
          </p:blipFill>
          <p:spPr bwMode="auto">
            <a:xfrm>
              <a:off x="3154" y="2719"/>
              <a:ext cx="594" cy="152"/>
            </a:xfrm>
            <a:prstGeom prst="rect">
              <a:avLst/>
            </a:prstGeom>
            <a:noFill/>
          </p:spPr>
        </p:pic>
        <p:pic>
          <p:nvPicPr>
            <p:cNvPr id="81" name="docshape80"/>
            <p:cNvPicPr>
              <a:picLocks noChangeAspect="1" noChangeArrowheads="1"/>
            </p:cNvPicPr>
            <p:nvPr/>
          </p:nvPicPr>
          <p:blipFill>
            <a:blip r:embed="rId81"/>
            <a:srcRect/>
            <a:stretch>
              <a:fillRect/>
            </a:stretch>
          </p:blipFill>
          <p:spPr bwMode="auto">
            <a:xfrm>
              <a:off x="3863" y="2722"/>
              <a:ext cx="273" cy="149"/>
            </a:xfrm>
            <a:prstGeom prst="rect">
              <a:avLst/>
            </a:prstGeom>
            <a:noFill/>
          </p:spPr>
        </p:pic>
        <p:pic>
          <p:nvPicPr>
            <p:cNvPr id="82" name="docshape81"/>
            <p:cNvPicPr>
              <a:picLocks noChangeAspect="1" noChangeArrowheads="1"/>
            </p:cNvPicPr>
            <p:nvPr/>
          </p:nvPicPr>
          <p:blipFill>
            <a:blip r:embed="rId82"/>
            <a:srcRect/>
            <a:stretch>
              <a:fillRect/>
            </a:stretch>
          </p:blipFill>
          <p:spPr bwMode="auto">
            <a:xfrm>
              <a:off x="4196" y="2758"/>
              <a:ext cx="29" cy="110"/>
            </a:xfrm>
            <a:prstGeom prst="rect">
              <a:avLst/>
            </a:prstGeom>
            <a:noFill/>
          </p:spPr>
        </p:pic>
        <p:pic>
          <p:nvPicPr>
            <p:cNvPr id="83" name="docshape82"/>
            <p:cNvPicPr>
              <a:picLocks noChangeAspect="1" noChangeArrowheads="1"/>
            </p:cNvPicPr>
            <p:nvPr/>
          </p:nvPicPr>
          <p:blipFill>
            <a:blip r:embed="rId83"/>
            <a:srcRect/>
            <a:stretch>
              <a:fillRect/>
            </a:stretch>
          </p:blipFill>
          <p:spPr bwMode="auto">
            <a:xfrm>
              <a:off x="4296" y="2719"/>
              <a:ext cx="327" cy="153"/>
            </a:xfrm>
            <a:prstGeom prst="rect">
              <a:avLst/>
            </a:prstGeom>
            <a:noFill/>
          </p:spPr>
        </p:pic>
        <p:pic>
          <p:nvPicPr>
            <p:cNvPr id="84" name="docshape83"/>
            <p:cNvPicPr>
              <a:picLocks noChangeAspect="1" noChangeArrowheads="1"/>
            </p:cNvPicPr>
            <p:nvPr/>
          </p:nvPicPr>
          <p:blipFill>
            <a:blip r:embed="rId78"/>
            <a:srcRect/>
            <a:stretch>
              <a:fillRect/>
            </a:stretch>
          </p:blipFill>
          <p:spPr bwMode="auto">
            <a:xfrm>
              <a:off x="4692" y="2795"/>
              <a:ext cx="44" cy="18"/>
            </a:xfrm>
            <a:prstGeom prst="rect">
              <a:avLst/>
            </a:prstGeom>
            <a:noFill/>
          </p:spPr>
        </p:pic>
        <p:pic>
          <p:nvPicPr>
            <p:cNvPr id="85" name="docshape84"/>
            <p:cNvPicPr>
              <a:picLocks noChangeAspect="1" noChangeArrowheads="1"/>
            </p:cNvPicPr>
            <p:nvPr/>
          </p:nvPicPr>
          <p:blipFill>
            <a:blip r:embed="rId84"/>
            <a:srcRect/>
            <a:stretch>
              <a:fillRect/>
            </a:stretch>
          </p:blipFill>
          <p:spPr bwMode="auto">
            <a:xfrm>
              <a:off x="4801" y="2719"/>
              <a:ext cx="591" cy="153"/>
            </a:xfrm>
            <a:prstGeom prst="rect">
              <a:avLst/>
            </a:prstGeom>
            <a:noFill/>
          </p:spPr>
        </p:pic>
        <p:pic>
          <p:nvPicPr>
            <p:cNvPr id="86" name="docshape85"/>
            <p:cNvPicPr>
              <a:picLocks noChangeAspect="1" noChangeArrowheads="1"/>
            </p:cNvPicPr>
            <p:nvPr/>
          </p:nvPicPr>
          <p:blipFill>
            <a:blip r:embed="rId85"/>
            <a:srcRect/>
            <a:stretch>
              <a:fillRect/>
            </a:stretch>
          </p:blipFill>
          <p:spPr bwMode="auto">
            <a:xfrm>
              <a:off x="5510" y="2722"/>
              <a:ext cx="80" cy="146"/>
            </a:xfrm>
            <a:prstGeom prst="rect">
              <a:avLst/>
            </a:prstGeom>
            <a:noFill/>
          </p:spPr>
        </p:pic>
        <p:pic>
          <p:nvPicPr>
            <p:cNvPr id="87" name="docshape86"/>
            <p:cNvPicPr>
              <a:picLocks noChangeAspect="1" noChangeArrowheads="1"/>
            </p:cNvPicPr>
            <p:nvPr/>
          </p:nvPicPr>
          <p:blipFill>
            <a:blip r:embed="rId86"/>
            <a:srcRect/>
            <a:stretch>
              <a:fillRect/>
            </a:stretch>
          </p:blipFill>
          <p:spPr bwMode="auto">
            <a:xfrm>
              <a:off x="5606" y="2716"/>
              <a:ext cx="323" cy="155"/>
            </a:xfrm>
            <a:prstGeom prst="rect">
              <a:avLst/>
            </a:prstGeom>
            <a:noFill/>
          </p:spPr>
        </p:pic>
        <p:pic>
          <p:nvPicPr>
            <p:cNvPr id="88" name="docshape87"/>
            <p:cNvPicPr>
              <a:picLocks noChangeAspect="1" noChangeArrowheads="1"/>
            </p:cNvPicPr>
            <p:nvPr/>
          </p:nvPicPr>
          <p:blipFill>
            <a:blip r:embed="rId87"/>
            <a:srcRect/>
            <a:stretch>
              <a:fillRect/>
            </a:stretch>
          </p:blipFill>
          <p:spPr bwMode="auto">
            <a:xfrm>
              <a:off x="6000" y="2758"/>
              <a:ext cx="29" cy="110"/>
            </a:xfrm>
            <a:prstGeom prst="rect">
              <a:avLst/>
            </a:prstGeom>
            <a:noFill/>
          </p:spPr>
        </p:pic>
        <p:pic>
          <p:nvPicPr>
            <p:cNvPr id="89" name="docshape88"/>
            <p:cNvPicPr>
              <a:picLocks noChangeAspect="1" noChangeArrowheads="1"/>
            </p:cNvPicPr>
            <p:nvPr/>
          </p:nvPicPr>
          <p:blipFill>
            <a:blip r:embed="rId88"/>
            <a:srcRect/>
            <a:stretch>
              <a:fillRect/>
            </a:stretch>
          </p:blipFill>
          <p:spPr bwMode="auto">
            <a:xfrm>
              <a:off x="6097" y="2755"/>
              <a:ext cx="634" cy="154"/>
            </a:xfrm>
            <a:prstGeom prst="rect">
              <a:avLst/>
            </a:prstGeom>
            <a:noFill/>
          </p:spPr>
        </p:pic>
        <p:pic>
          <p:nvPicPr>
            <p:cNvPr id="90" name="docshape89"/>
            <p:cNvPicPr>
              <a:picLocks noChangeAspect="1" noChangeArrowheads="1"/>
            </p:cNvPicPr>
            <p:nvPr/>
          </p:nvPicPr>
          <p:blipFill>
            <a:blip r:embed="rId89"/>
            <a:srcRect/>
            <a:stretch>
              <a:fillRect/>
            </a:stretch>
          </p:blipFill>
          <p:spPr bwMode="auto">
            <a:xfrm>
              <a:off x="6751" y="2719"/>
              <a:ext cx="212" cy="190"/>
            </a:xfrm>
            <a:prstGeom prst="rect">
              <a:avLst/>
            </a:prstGeom>
            <a:noFill/>
          </p:spPr>
        </p:pic>
        <p:pic>
          <p:nvPicPr>
            <p:cNvPr id="91" name="docshape90"/>
            <p:cNvPicPr>
              <a:picLocks noChangeAspect="1" noChangeArrowheads="1"/>
            </p:cNvPicPr>
            <p:nvPr/>
          </p:nvPicPr>
          <p:blipFill>
            <a:blip r:embed="rId90"/>
            <a:srcRect/>
            <a:stretch>
              <a:fillRect/>
            </a:stretch>
          </p:blipFill>
          <p:spPr bwMode="auto">
            <a:xfrm>
              <a:off x="6983" y="2716"/>
              <a:ext cx="483" cy="155"/>
            </a:xfrm>
            <a:prstGeom prst="rect">
              <a:avLst/>
            </a:prstGeom>
            <a:noFill/>
          </p:spPr>
        </p:pic>
        <p:pic>
          <p:nvPicPr>
            <p:cNvPr id="92" name="docshape91"/>
            <p:cNvPicPr>
              <a:picLocks noChangeAspect="1" noChangeArrowheads="1"/>
            </p:cNvPicPr>
            <p:nvPr/>
          </p:nvPicPr>
          <p:blipFill>
            <a:blip r:embed="rId91"/>
            <a:srcRect/>
            <a:stretch>
              <a:fillRect/>
            </a:stretch>
          </p:blipFill>
          <p:spPr bwMode="auto">
            <a:xfrm>
              <a:off x="7480" y="2755"/>
              <a:ext cx="162" cy="149"/>
            </a:xfrm>
            <a:prstGeom prst="rect">
              <a:avLst/>
            </a:prstGeom>
            <a:noFill/>
          </p:spPr>
        </p:pic>
        <p:pic>
          <p:nvPicPr>
            <p:cNvPr id="93" name="docshape92"/>
            <p:cNvPicPr>
              <a:picLocks noChangeAspect="1" noChangeArrowheads="1"/>
            </p:cNvPicPr>
            <p:nvPr/>
          </p:nvPicPr>
          <p:blipFill>
            <a:blip r:embed="rId92"/>
            <a:srcRect/>
            <a:stretch>
              <a:fillRect/>
            </a:stretch>
          </p:blipFill>
          <p:spPr bwMode="auto">
            <a:xfrm>
              <a:off x="7711" y="2716"/>
              <a:ext cx="568" cy="193"/>
            </a:xfrm>
            <a:prstGeom prst="rect">
              <a:avLst/>
            </a:prstGeom>
            <a:noFill/>
          </p:spPr>
        </p:pic>
        <p:pic>
          <p:nvPicPr>
            <p:cNvPr id="94" name="docshape93"/>
            <p:cNvPicPr>
              <a:picLocks noChangeAspect="1" noChangeArrowheads="1"/>
            </p:cNvPicPr>
            <p:nvPr/>
          </p:nvPicPr>
          <p:blipFill>
            <a:blip r:embed="rId93"/>
            <a:srcRect/>
            <a:stretch>
              <a:fillRect/>
            </a:stretch>
          </p:blipFill>
          <p:spPr bwMode="auto">
            <a:xfrm>
              <a:off x="8298" y="2716"/>
              <a:ext cx="906" cy="194"/>
            </a:xfrm>
            <a:prstGeom prst="rect">
              <a:avLst/>
            </a:prstGeom>
            <a:noFill/>
          </p:spPr>
        </p:pic>
        <p:pic>
          <p:nvPicPr>
            <p:cNvPr id="95" name="docshape94"/>
            <p:cNvPicPr>
              <a:picLocks noChangeAspect="1" noChangeArrowheads="1"/>
            </p:cNvPicPr>
            <p:nvPr/>
          </p:nvPicPr>
          <p:blipFill>
            <a:blip r:embed="rId94"/>
            <a:srcRect/>
            <a:stretch>
              <a:fillRect/>
            </a:stretch>
          </p:blipFill>
          <p:spPr bwMode="auto">
            <a:xfrm>
              <a:off x="9316" y="2716"/>
              <a:ext cx="351" cy="155"/>
            </a:xfrm>
            <a:prstGeom prst="rect">
              <a:avLst/>
            </a:prstGeom>
            <a:noFill/>
          </p:spPr>
        </p:pic>
        <p:pic>
          <p:nvPicPr>
            <p:cNvPr id="96" name="docshape95"/>
            <p:cNvPicPr>
              <a:picLocks noChangeAspect="1" noChangeArrowheads="1"/>
            </p:cNvPicPr>
            <p:nvPr/>
          </p:nvPicPr>
          <p:blipFill>
            <a:blip r:embed="rId95"/>
            <a:srcRect/>
            <a:stretch>
              <a:fillRect/>
            </a:stretch>
          </p:blipFill>
          <p:spPr bwMode="auto">
            <a:xfrm>
              <a:off x="9732" y="2758"/>
              <a:ext cx="29" cy="110"/>
            </a:xfrm>
            <a:prstGeom prst="rect">
              <a:avLst/>
            </a:prstGeom>
            <a:noFill/>
          </p:spPr>
        </p:pic>
        <p:pic>
          <p:nvPicPr>
            <p:cNvPr id="97" name="docshape96"/>
            <p:cNvPicPr>
              <a:picLocks noChangeAspect="1" noChangeArrowheads="1"/>
            </p:cNvPicPr>
            <p:nvPr/>
          </p:nvPicPr>
          <p:blipFill>
            <a:blip r:embed="rId96"/>
            <a:srcRect/>
            <a:stretch>
              <a:fillRect/>
            </a:stretch>
          </p:blipFill>
          <p:spPr bwMode="auto">
            <a:xfrm>
              <a:off x="9827" y="2758"/>
              <a:ext cx="114" cy="110"/>
            </a:xfrm>
            <a:prstGeom prst="rect">
              <a:avLst/>
            </a:prstGeom>
            <a:noFill/>
          </p:spPr>
        </p:pic>
        <p:pic>
          <p:nvPicPr>
            <p:cNvPr id="98" name="docshape97"/>
            <p:cNvPicPr>
              <a:picLocks noChangeAspect="1" noChangeArrowheads="1"/>
            </p:cNvPicPr>
            <p:nvPr/>
          </p:nvPicPr>
          <p:blipFill>
            <a:blip r:embed="rId97"/>
            <a:srcRect/>
            <a:stretch>
              <a:fillRect/>
            </a:stretch>
          </p:blipFill>
          <p:spPr bwMode="auto">
            <a:xfrm>
              <a:off x="9945" y="2758"/>
              <a:ext cx="114" cy="110"/>
            </a:xfrm>
            <a:prstGeom prst="rect">
              <a:avLst/>
            </a:prstGeom>
            <a:noFill/>
          </p:spPr>
        </p:pic>
        <p:pic>
          <p:nvPicPr>
            <p:cNvPr id="99" name="docshape98"/>
            <p:cNvPicPr>
              <a:picLocks noChangeAspect="1" noChangeArrowheads="1"/>
            </p:cNvPicPr>
            <p:nvPr/>
          </p:nvPicPr>
          <p:blipFill>
            <a:blip r:embed="rId98"/>
            <a:srcRect/>
            <a:stretch>
              <a:fillRect/>
            </a:stretch>
          </p:blipFill>
          <p:spPr bwMode="auto">
            <a:xfrm>
              <a:off x="10063" y="2716"/>
              <a:ext cx="1245" cy="194"/>
            </a:xfrm>
            <a:prstGeom prst="rect">
              <a:avLst/>
            </a:prstGeom>
            <a:noFill/>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05597"/>
            <a:ext cx="5029200" cy="838200"/>
          </a:xfrm>
        </p:spPr>
        <p:txBody>
          <a:bodyPr/>
          <a:lstStyle/>
          <a:p>
            <a:r>
              <a:rPr lang="en-IN" sz="3600" b="1" dirty="0">
                <a:latin typeface="Times New Roman" panose="02020603050405020304" pitchFamily="18" charset="0"/>
                <a:cs typeface="Times New Roman" panose="02020603050405020304" pitchFamily="18" charset="0"/>
              </a:rPr>
              <a:t>Contents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676400"/>
            <a:ext cx="8534400" cy="4648200"/>
          </a:xfrm>
        </p:spPr>
        <p:txBody>
          <a:bodyPr>
            <a:normAutofit fontScale="70000" lnSpcReduction="20000"/>
          </a:bodyPr>
          <a:lstStyle/>
          <a:p>
            <a:pPr lvl="0">
              <a:lnSpc>
                <a:spcPct val="150000"/>
              </a:lnSpc>
            </a:pPr>
            <a:r>
              <a:rPr lang="en-US" dirty="0">
                <a:latin typeface="Times New Roman" pitchFamily="18" charset="0"/>
                <a:cs typeface="Times New Roman" pitchFamily="18" charset="0"/>
              </a:rPr>
              <a:t>Introduction </a:t>
            </a:r>
          </a:p>
          <a:p>
            <a:pPr lvl="0">
              <a:lnSpc>
                <a:spcPct val="150000"/>
              </a:lnSpc>
            </a:pPr>
            <a:r>
              <a:rPr lang="en-US" dirty="0">
                <a:latin typeface="Times New Roman" pitchFamily="18" charset="0"/>
                <a:cs typeface="Times New Roman" pitchFamily="18" charset="0"/>
              </a:rPr>
              <a:t>Literature Survey</a:t>
            </a:r>
          </a:p>
          <a:p>
            <a:pPr lvl="0">
              <a:lnSpc>
                <a:spcPct val="150000"/>
              </a:lnSpc>
            </a:pPr>
            <a:r>
              <a:rPr lang="en-IN" dirty="0">
                <a:latin typeface="Times New Roman" pitchFamily="18" charset="0"/>
                <a:cs typeface="Times New Roman" pitchFamily="18" charset="0"/>
              </a:rPr>
              <a:t>Problem statement and solution strategy</a:t>
            </a:r>
            <a:endParaRPr lang="en-US" dirty="0">
              <a:latin typeface="Times New Roman" pitchFamily="18" charset="0"/>
              <a:cs typeface="Times New Roman" pitchFamily="18" charset="0"/>
            </a:endParaRPr>
          </a:p>
          <a:p>
            <a:pPr lvl="0">
              <a:lnSpc>
                <a:spcPct val="150000"/>
              </a:lnSpc>
            </a:pPr>
            <a:r>
              <a:rPr lang="en-IN" dirty="0">
                <a:latin typeface="Times New Roman" pitchFamily="18" charset="0"/>
                <a:cs typeface="Times New Roman" pitchFamily="18" charset="0"/>
              </a:rPr>
              <a:t>Objectives</a:t>
            </a:r>
            <a:endParaRPr lang="en-US" dirty="0">
              <a:latin typeface="Times New Roman" pitchFamily="18" charset="0"/>
              <a:cs typeface="Times New Roman" pitchFamily="18" charset="0"/>
            </a:endParaRPr>
          </a:p>
          <a:p>
            <a:pPr lvl="0">
              <a:lnSpc>
                <a:spcPct val="150000"/>
              </a:lnSpc>
            </a:pPr>
            <a:r>
              <a:rPr lang="en-US" dirty="0">
                <a:latin typeface="Times New Roman" pitchFamily="18" charset="0"/>
                <a:cs typeface="Times New Roman" pitchFamily="18" charset="0"/>
              </a:rPr>
              <a:t>Methodology</a:t>
            </a:r>
          </a:p>
          <a:p>
            <a:pPr lvl="0">
              <a:lnSpc>
                <a:spcPct val="150000"/>
              </a:lnSpc>
            </a:pPr>
            <a:r>
              <a:rPr lang="en-US" dirty="0">
                <a:latin typeface="Times New Roman" pitchFamily="18" charset="0"/>
                <a:cs typeface="Times New Roman" pitchFamily="18" charset="0"/>
              </a:rPr>
              <a:t>Flow chart of program</a:t>
            </a:r>
          </a:p>
          <a:p>
            <a:pPr lvl="0">
              <a:lnSpc>
                <a:spcPct val="150000"/>
              </a:lnSpc>
            </a:pPr>
            <a:r>
              <a:rPr lang="en-US" dirty="0">
                <a:latin typeface="Times New Roman" pitchFamily="18" charset="0"/>
                <a:cs typeface="Times New Roman" pitchFamily="18" charset="0"/>
              </a:rPr>
              <a:t>Result</a:t>
            </a:r>
          </a:p>
          <a:p>
            <a:pPr lvl="0">
              <a:lnSpc>
                <a:spcPct val="150000"/>
              </a:lnSpc>
            </a:pPr>
            <a:r>
              <a:rPr lang="en-US" dirty="0">
                <a:latin typeface="Times New Roman" pitchFamily="18" charset="0"/>
                <a:cs typeface="Times New Roman" pitchFamily="18" charset="0"/>
              </a:rPr>
              <a:t>Conclusion </a:t>
            </a:r>
          </a:p>
          <a:p>
            <a:pPr lvl="0">
              <a:lnSpc>
                <a:spcPct val="150000"/>
              </a:lnSpc>
            </a:pPr>
            <a:r>
              <a:rPr lang="en-US" dirty="0">
                <a:latin typeface="Times New Roman" pitchFamily="18" charset="0"/>
                <a:cs typeface="Times New Roman" pitchFamily="18" charset="0"/>
              </a:rPr>
              <a:t>Reference</a:t>
            </a:r>
          </a:p>
          <a:p>
            <a:pPr>
              <a:buNone/>
            </a:pP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pic>
        <p:nvPicPr>
          <p:cNvPr id="6" name="Picture 5" descr="E:\Shiva\VTU-logo.png"/>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3600" b="1" dirty="0">
                <a:latin typeface="Times New Roman" pitchFamily="18" charset="0"/>
                <a:cs typeface="Times New Roman" pitchFamily="18" charset="0"/>
              </a:rPr>
              <a:t>Introduction</a:t>
            </a:r>
            <a:endParaRPr lang="en-US"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pic>
        <p:nvPicPr>
          <p:cNvPr id="7" name="Picture 6" descr="E:\Shiva\VTU-logo.png"/>
          <p:cNvPicPr/>
          <p:nvPr/>
        </p:nvPicPr>
        <p:blipFill>
          <a:blip r:embed="rId3" cstate="print"/>
          <a:srcRect/>
          <a:stretch>
            <a:fillRect/>
          </a:stretch>
        </p:blipFill>
        <p:spPr bwMode="auto">
          <a:xfrm>
            <a:off x="7620000" y="0"/>
            <a:ext cx="1292913" cy="1533525"/>
          </a:xfrm>
          <a:prstGeom prst="rect">
            <a:avLst/>
          </a:prstGeom>
          <a:noFill/>
          <a:ln w="9525">
            <a:noFill/>
            <a:miter lim="800000"/>
            <a:headEnd/>
            <a:tailEnd/>
          </a:ln>
        </p:spPr>
      </p:pic>
      <p:sp>
        <p:nvSpPr>
          <p:cNvPr id="5" name="Content Placeholder 4"/>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 GPS is widely used, it has major limitations indoors or in areas with signal blockage.</a:t>
            </a:r>
          </a:p>
          <a:p>
            <a:r>
              <a:rPr lang="en-US" dirty="0">
                <a:latin typeface="Times New Roman" panose="02020603050405020304" pitchFamily="18" charset="0"/>
                <a:cs typeface="Times New Roman" panose="02020603050405020304" pitchFamily="18" charset="0"/>
              </a:rPr>
              <a:t>This project demonstrates how RF technology, combined with microcontrollers and signal strength measurement, can provide accurate tracking with minimal infrastructure .</a:t>
            </a:r>
          </a:p>
          <a:p>
            <a:r>
              <a:rPr lang="en-US" dirty="0">
                <a:latin typeface="Times New Roman" panose="02020603050405020304" pitchFamily="18" charset="0"/>
                <a:cs typeface="Times New Roman" panose="02020603050405020304" pitchFamily="18" charset="0"/>
              </a:rPr>
              <a:t>By implementing this system, we aim to make geo-location solutions more accessible, efficient, and adaptable to various practical applications such as campus navigation, warehouse management, and safety monitoring.</a:t>
            </a:r>
          </a:p>
        </p:txBody>
      </p:sp>
      <p:pic>
        <p:nvPicPr>
          <p:cNvPr id="8" name="Picture 7"/>
          <p:cNvPicPr/>
          <p:nvPr/>
        </p:nvPicPr>
        <p:blipFill>
          <a:blip r:embed="rId4"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4FD55-0D36-713F-861E-0314D0E5F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E2027-FEDB-BA43-E339-B17B3B2530FF}"/>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8" name="Content Placeholder 7">
            <a:extLst>
              <a:ext uri="{FF2B5EF4-FFF2-40B4-BE49-F238E27FC236}">
                <a16:creationId xmlns:a16="http://schemas.microsoft.com/office/drawing/2014/main" id="{6619B15C-1306-6ECE-703D-0D96BC7AAD33}"/>
              </a:ext>
            </a:extLst>
          </p:cNvPr>
          <p:cNvGraphicFramePr>
            <a:graphicFrameLocks noGrp="1"/>
          </p:cNvGraphicFramePr>
          <p:nvPr>
            <p:ph idx="1"/>
          </p:nvPr>
        </p:nvGraphicFramePr>
        <p:xfrm>
          <a:off x="738870" y="1158081"/>
          <a:ext cx="7666260" cy="5394960"/>
        </p:xfrm>
        <a:graphic>
          <a:graphicData uri="http://schemas.openxmlformats.org/drawingml/2006/table">
            <a:tbl>
              <a:tblPr firstRow="1" bandRow="1">
                <a:tableStyleId>{5C22544A-7EE6-4342-B048-85BDC9FD1C3A}</a:tableStyleId>
              </a:tblPr>
              <a:tblGrid>
                <a:gridCol w="1242330">
                  <a:extLst>
                    <a:ext uri="{9D8B030D-6E8A-4147-A177-3AD203B41FA5}">
                      <a16:colId xmlns:a16="http://schemas.microsoft.com/office/drawing/2014/main" val="20000"/>
                    </a:ext>
                  </a:extLst>
                </a:gridCol>
                <a:gridCol w="1336203">
                  <a:extLst>
                    <a:ext uri="{9D8B030D-6E8A-4147-A177-3AD203B41FA5}">
                      <a16:colId xmlns:a16="http://schemas.microsoft.com/office/drawing/2014/main" val="20001"/>
                    </a:ext>
                  </a:extLst>
                </a:gridCol>
                <a:gridCol w="1936984">
                  <a:extLst>
                    <a:ext uri="{9D8B030D-6E8A-4147-A177-3AD203B41FA5}">
                      <a16:colId xmlns:a16="http://schemas.microsoft.com/office/drawing/2014/main" val="20002"/>
                    </a:ext>
                  </a:extLst>
                </a:gridCol>
                <a:gridCol w="1575371">
                  <a:extLst>
                    <a:ext uri="{9D8B030D-6E8A-4147-A177-3AD203B41FA5}">
                      <a16:colId xmlns:a16="http://schemas.microsoft.com/office/drawing/2014/main" val="20003"/>
                    </a:ext>
                  </a:extLst>
                </a:gridCol>
                <a:gridCol w="1575372">
                  <a:extLst>
                    <a:ext uri="{9D8B030D-6E8A-4147-A177-3AD203B41FA5}">
                      <a16:colId xmlns:a16="http://schemas.microsoft.com/office/drawing/2014/main" val="20004"/>
                    </a:ext>
                  </a:extLst>
                </a:gridCol>
              </a:tblGrid>
              <a:tr h="799734">
                <a:tc>
                  <a:txBody>
                    <a:bodyPr/>
                    <a:lstStyle/>
                    <a:p>
                      <a:r>
                        <a:rPr lang="en-IN" dirty="0">
                          <a:latin typeface="Times New Roman" panose="02020603050405020304" pitchFamily="18" charset="0"/>
                          <a:cs typeface="Times New Roman" panose="02020603050405020304" pitchFamily="18" charset="0"/>
                        </a:rPr>
                        <a:t>Author</a:t>
                      </a:r>
                      <a:r>
                        <a:rPr lang="en-IN" baseline="0" dirty="0">
                          <a:latin typeface="Times New Roman" panose="02020603050405020304" pitchFamily="18" charset="0"/>
                          <a:cs typeface="Times New Roman" panose="02020603050405020304" pitchFamily="18" charset="0"/>
                        </a:rPr>
                        <a:t>s &amp;</a:t>
                      </a:r>
                    </a:p>
                    <a:p>
                      <a:r>
                        <a:rPr lang="en-IN" baseline="0" dirty="0">
                          <a:latin typeface="Times New Roman" panose="02020603050405020304" pitchFamily="18" charset="0"/>
                          <a:cs typeface="Times New Roman" panose="02020603050405020304" pitchFamily="18" charset="0"/>
                        </a:rPr>
                        <a:t>Title </a:t>
                      </a:r>
                      <a:endParaRPr lang="en-US"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Publication</a:t>
                      </a:r>
                      <a:r>
                        <a:rPr lang="en-IN" baseline="0" dirty="0">
                          <a:latin typeface="Times New Roman" panose="02020603050405020304" pitchFamily="18" charset="0"/>
                          <a:cs typeface="Times New Roman" panose="02020603050405020304" pitchFamily="18" charset="0"/>
                        </a:rPr>
                        <a:t> details and date</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Problem identified &amp; </a:t>
                      </a:r>
                      <a:r>
                        <a:rPr lang="en-IN" dirty="0">
                          <a:latin typeface="Times New Roman" panose="02020603050405020304" pitchFamily="18" charset="0"/>
                          <a:cs typeface="Times New Roman" panose="02020603050405020304" pitchFamily="18" charset="0"/>
                        </a:rPr>
                        <a:t>Techniques used</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a:latin typeface="Times New Roman" panose="02020603050405020304" pitchFamily="18" charset="0"/>
                          <a:cs typeface="Times New Roman" panose="02020603050405020304" pitchFamily="18" charset="0"/>
                        </a:rPr>
                        <a:t>Outcome</a:t>
                      </a:r>
                      <a:r>
                        <a:rPr lang="en-IN" baseline="0" dirty="0">
                          <a:latin typeface="Times New Roman" panose="02020603050405020304" pitchFamily="18" charset="0"/>
                          <a:cs typeface="Times New Roman" panose="02020603050405020304" pitchFamily="18" charset="0"/>
                        </a:rPr>
                        <a:t> or performance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Disadvantage</a:t>
                      </a:r>
                      <a:r>
                        <a:rPr lang="en-US" baseline="0" dirty="0">
                          <a:latin typeface="Times New Roman" panose="02020603050405020304" pitchFamily="18" charset="0"/>
                          <a:cs typeface="Times New Roman" panose="02020603050405020304" pitchFamily="18" charset="0"/>
                        </a:rPr>
                        <a:t> or Future Work</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398535">
                <a:tc>
                  <a:txBody>
                    <a:bodyPr/>
                    <a:lstStyle/>
                    <a:p>
                      <a:pPr algn="l"/>
                      <a:r>
                        <a:rPr lang="en-US" dirty="0">
                          <a:latin typeface="Times New Roman" panose="02020603050405020304" pitchFamily="18" charset="0"/>
                          <a:cs typeface="Times New Roman" panose="02020603050405020304" pitchFamily="18" charset="0"/>
                        </a:rPr>
                        <a:t>Nadia Ahmed, Sadik Kamel </a:t>
                      </a:r>
                      <a:r>
                        <a:rPr lang="en-US" dirty="0" err="1">
                          <a:latin typeface="Times New Roman" panose="02020603050405020304" pitchFamily="18" charset="0"/>
                          <a:cs typeface="Times New Roman" panose="02020603050405020304" pitchFamily="18" charset="0"/>
                        </a:rPr>
                        <a:t>Gharghan</a:t>
                      </a:r>
                      <a:r>
                        <a:rPr lang="en-US" dirty="0">
                          <a:latin typeface="Times New Roman" panose="02020603050405020304" pitchFamily="18" charset="0"/>
                          <a:cs typeface="Times New Roman" panose="02020603050405020304" pitchFamily="18" charset="0"/>
                        </a:rPr>
                        <a:t> and others: "IoT-based child tracking using RFID and GPS"</a:t>
                      </a:r>
                    </a:p>
                  </a:txBody>
                  <a:tcPr/>
                </a:tc>
                <a:tc>
                  <a:txBody>
                    <a:bodyPr/>
                    <a:lstStyle/>
                    <a:p>
                      <a:r>
                        <a:rPr lang="en-US" dirty="0">
                          <a:latin typeface="Times New Roman" panose="02020603050405020304" pitchFamily="18" charset="0"/>
                          <a:cs typeface="Times New Roman" panose="02020603050405020304" pitchFamily="18" charset="0"/>
                        </a:rPr>
                        <a:t>International Journal of Computers and Applications, Taylor &amp; Francis, Published online 22 May 2023</a:t>
                      </a:r>
                    </a:p>
                  </a:txBody>
                  <a:tcPr/>
                </a:tc>
                <a:tc>
                  <a:txBody>
                    <a:bodyPr/>
                    <a:lstStyle/>
                    <a:p>
                      <a:r>
                        <a:rPr lang="en-US" dirty="0">
                          <a:latin typeface="Times New Roman" panose="02020603050405020304" pitchFamily="18" charset="0"/>
                          <a:cs typeface="Times New Roman" panose="02020603050405020304" pitchFamily="18" charset="0"/>
                        </a:rPr>
                        <a:t>Developed an affordable IoT-based child safety system using RFID readers, GPS, GSM, Arduino, and a Thinger.io-connected Android app. RFID tracks children in fixed zones, GPS points location, and alerts are sent instantly via SMS</a:t>
                      </a:r>
                    </a:p>
                  </a:txBody>
                  <a:tcPr/>
                </a:tc>
                <a:tc>
                  <a:txBody>
                    <a:bodyPr/>
                    <a:lstStyle/>
                    <a:p>
                      <a:r>
                        <a:rPr lang="en-US" dirty="0">
                          <a:latin typeface="Times New Roman" panose="02020603050405020304" pitchFamily="18" charset="0"/>
                          <a:cs typeface="Times New Roman" panose="02020603050405020304" pitchFamily="18" charset="0"/>
                        </a:rPr>
                        <a:t> System tested with real devices; RFID detection range about 4.5m per device, 9m between devices, accurate real-time geolocation even without internet,, easy monitoring for parents.</a:t>
                      </a:r>
                    </a:p>
                  </a:txBody>
                  <a:tcPr/>
                </a:tc>
                <a:tc>
                  <a:txBody>
                    <a:bodyPr/>
                    <a:lstStyle/>
                    <a:p>
                      <a:r>
                        <a:rPr lang="en-US" dirty="0">
                          <a:latin typeface="Times New Roman" panose="02020603050405020304" pitchFamily="18" charset="0"/>
                          <a:cs typeface="Times New Roman" panose="02020603050405020304" pitchFamily="18" charset="0"/>
                        </a:rPr>
                        <a:t> Limited experimental environment, only tested in a specific outdoor area; future work could include large-scale trials and integration of more sensors.</a:t>
                      </a:r>
                    </a:p>
                  </a:txBody>
                  <a:tcPr/>
                </a:tc>
                <a:extLst>
                  <a:ext uri="{0D108BD9-81ED-4DB2-BD59-A6C34878D82A}">
                    <a16:rowId xmlns:a16="http://schemas.microsoft.com/office/drawing/2014/main" val="10001"/>
                  </a:ext>
                </a:extLst>
              </a:tr>
            </a:tbl>
          </a:graphicData>
        </a:graphic>
      </p:graphicFrame>
      <p:sp>
        <p:nvSpPr>
          <p:cNvPr id="4" name="Slide Number Placeholder 3">
            <a:extLst>
              <a:ext uri="{FF2B5EF4-FFF2-40B4-BE49-F238E27FC236}">
                <a16:creationId xmlns:a16="http://schemas.microsoft.com/office/drawing/2014/main" id="{59FC86AB-1648-27B1-A587-5AE2149E9C72}"/>
              </a:ext>
            </a:extLst>
          </p:cNvPr>
          <p:cNvSpPr>
            <a:spLocks noGrp="1"/>
          </p:cNvSpPr>
          <p:nvPr>
            <p:ph type="sldNum" sz="quarter" idx="12"/>
          </p:nvPr>
        </p:nvSpPr>
        <p:spPr/>
        <p:txBody>
          <a:bodyPr/>
          <a:lstStyle/>
          <a:p>
            <a:fld id="{B6F15528-21DE-4FAA-801E-634DDDAF4B2B}" type="slidenum">
              <a:rPr lang="en-US" smtClean="0"/>
              <a:t>4</a:t>
            </a:fld>
            <a:endParaRPr lang="en-US"/>
          </a:p>
        </p:txBody>
      </p:sp>
      <p:pic>
        <p:nvPicPr>
          <p:cNvPr id="6" name="Picture 5" descr="E:\Shiva\VTU-logo.png">
            <a:extLst>
              <a:ext uri="{FF2B5EF4-FFF2-40B4-BE49-F238E27FC236}">
                <a16:creationId xmlns:a16="http://schemas.microsoft.com/office/drawing/2014/main" id="{7DA443C7-EE13-99EB-BB64-2E8B18BBD292}"/>
              </a:ext>
            </a:extLst>
          </p:cNvPr>
          <p:cNvPicPr/>
          <p:nvPr/>
        </p:nvPicPr>
        <p:blipFill>
          <a:blip r:embed="rId2" cstate="print"/>
          <a:srcRect/>
          <a:stretch>
            <a:fillRect/>
          </a:stretch>
        </p:blipFill>
        <p:spPr bwMode="auto">
          <a:xfrm>
            <a:off x="8153400" y="79375"/>
            <a:ext cx="898186" cy="1098677"/>
          </a:xfrm>
          <a:prstGeom prst="rect">
            <a:avLst/>
          </a:prstGeom>
          <a:noFill/>
          <a:ln w="9525">
            <a:noFill/>
            <a:miter lim="800000"/>
            <a:headEnd/>
            <a:tailEnd/>
          </a:ln>
        </p:spPr>
      </p:pic>
      <p:pic>
        <p:nvPicPr>
          <p:cNvPr id="9" name="Picture 8">
            <a:extLst>
              <a:ext uri="{FF2B5EF4-FFF2-40B4-BE49-F238E27FC236}">
                <a16:creationId xmlns:a16="http://schemas.microsoft.com/office/drawing/2014/main" id="{ED87203D-C62A-A782-247C-6442F614A9BE}"/>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69136" y="-3048"/>
            <a:ext cx="1057799" cy="1181100"/>
          </a:xfrm>
          <a:prstGeom prst="rect">
            <a:avLst/>
          </a:prstGeom>
        </p:spPr>
      </p:pic>
    </p:spTree>
    <p:extLst>
      <p:ext uri="{BB962C8B-B14F-4D97-AF65-F5344CB8AC3E}">
        <p14:creationId xmlns:p14="http://schemas.microsoft.com/office/powerpoint/2010/main" val="329889884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80474-05C3-A4B0-410E-9797C2449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6A264-3FD6-E9EE-FEE7-3FBDB61B5470}"/>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8" name="Content Placeholder 7">
            <a:extLst>
              <a:ext uri="{FF2B5EF4-FFF2-40B4-BE49-F238E27FC236}">
                <a16:creationId xmlns:a16="http://schemas.microsoft.com/office/drawing/2014/main" id="{A06B2390-1C56-EB3D-AD9E-E76A7E8CC59E}"/>
              </a:ext>
            </a:extLst>
          </p:cNvPr>
          <p:cNvGraphicFramePr>
            <a:graphicFrameLocks noGrp="1"/>
          </p:cNvGraphicFramePr>
          <p:nvPr>
            <p:ph idx="1"/>
          </p:nvPr>
        </p:nvGraphicFramePr>
        <p:xfrm>
          <a:off x="457200" y="1135127"/>
          <a:ext cx="8153399" cy="5669280"/>
        </p:xfrm>
        <a:graphic>
          <a:graphicData uri="http://schemas.openxmlformats.org/drawingml/2006/table">
            <a:tbl>
              <a:tblPr firstRow="1" bandRow="1">
                <a:tableStyleId>{5C22544A-7EE6-4342-B048-85BDC9FD1C3A}</a:tableStyleId>
              </a:tblPr>
              <a:tblGrid>
                <a:gridCol w="1454845">
                  <a:extLst>
                    <a:ext uri="{9D8B030D-6E8A-4147-A177-3AD203B41FA5}">
                      <a16:colId xmlns:a16="http://schemas.microsoft.com/office/drawing/2014/main" val="20000"/>
                    </a:ext>
                  </a:extLst>
                </a:gridCol>
                <a:gridCol w="1364555">
                  <a:extLst>
                    <a:ext uri="{9D8B030D-6E8A-4147-A177-3AD203B41FA5}">
                      <a16:colId xmlns:a16="http://schemas.microsoft.com/office/drawing/2014/main" val="20001"/>
                    </a:ext>
                  </a:extLst>
                </a:gridCol>
                <a:gridCol w="2107064">
                  <a:extLst>
                    <a:ext uri="{9D8B030D-6E8A-4147-A177-3AD203B41FA5}">
                      <a16:colId xmlns:a16="http://schemas.microsoft.com/office/drawing/2014/main" val="20002"/>
                    </a:ext>
                  </a:extLst>
                </a:gridCol>
                <a:gridCol w="1484419">
                  <a:extLst>
                    <a:ext uri="{9D8B030D-6E8A-4147-A177-3AD203B41FA5}">
                      <a16:colId xmlns:a16="http://schemas.microsoft.com/office/drawing/2014/main" val="20003"/>
                    </a:ext>
                  </a:extLst>
                </a:gridCol>
                <a:gridCol w="1742516">
                  <a:extLst>
                    <a:ext uri="{9D8B030D-6E8A-4147-A177-3AD203B41FA5}">
                      <a16:colId xmlns:a16="http://schemas.microsoft.com/office/drawing/2014/main" val="20004"/>
                    </a:ext>
                  </a:extLst>
                </a:gridCol>
              </a:tblGrid>
              <a:tr h="877478">
                <a:tc>
                  <a:txBody>
                    <a:bodyPr/>
                    <a:lstStyle/>
                    <a:p>
                      <a:r>
                        <a:rPr lang="en-IN" dirty="0">
                          <a:latin typeface="Times New Roman" panose="02020603050405020304" pitchFamily="18" charset="0"/>
                          <a:cs typeface="Times New Roman" panose="02020603050405020304" pitchFamily="18" charset="0"/>
                        </a:rPr>
                        <a:t>Author</a:t>
                      </a:r>
                      <a:r>
                        <a:rPr lang="en-IN" baseline="0" dirty="0">
                          <a:latin typeface="Times New Roman" panose="02020603050405020304" pitchFamily="18" charset="0"/>
                          <a:cs typeface="Times New Roman" panose="02020603050405020304" pitchFamily="18" charset="0"/>
                        </a:rPr>
                        <a:t>s &amp;</a:t>
                      </a:r>
                    </a:p>
                    <a:p>
                      <a:r>
                        <a:rPr lang="en-IN" baseline="0" dirty="0">
                          <a:latin typeface="Times New Roman" panose="02020603050405020304" pitchFamily="18" charset="0"/>
                          <a:cs typeface="Times New Roman" panose="02020603050405020304" pitchFamily="18" charset="0"/>
                        </a:rPr>
                        <a:t>Title </a:t>
                      </a:r>
                      <a:endParaRPr lang="en-US"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Publication</a:t>
                      </a:r>
                      <a:r>
                        <a:rPr lang="en-IN" baseline="0" dirty="0">
                          <a:latin typeface="Times New Roman" panose="02020603050405020304" pitchFamily="18" charset="0"/>
                          <a:cs typeface="Times New Roman" panose="02020603050405020304" pitchFamily="18" charset="0"/>
                        </a:rPr>
                        <a:t> details and date</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Problem identified &amp; </a:t>
                      </a:r>
                      <a:r>
                        <a:rPr lang="en-IN" dirty="0">
                          <a:latin typeface="Times New Roman" panose="02020603050405020304" pitchFamily="18" charset="0"/>
                          <a:cs typeface="Times New Roman" panose="02020603050405020304" pitchFamily="18" charset="0"/>
                        </a:rPr>
                        <a:t>Techniques used</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a:latin typeface="Times New Roman" panose="02020603050405020304" pitchFamily="18" charset="0"/>
                          <a:cs typeface="Times New Roman" panose="02020603050405020304" pitchFamily="18" charset="0"/>
                        </a:rPr>
                        <a:t>Outcome</a:t>
                      </a:r>
                      <a:r>
                        <a:rPr lang="en-IN" baseline="0" dirty="0">
                          <a:latin typeface="Times New Roman" panose="02020603050405020304" pitchFamily="18" charset="0"/>
                          <a:cs typeface="Times New Roman" panose="02020603050405020304" pitchFamily="18" charset="0"/>
                        </a:rPr>
                        <a:t> or performance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Disadvantage</a:t>
                      </a:r>
                      <a:r>
                        <a:rPr lang="en-US" baseline="0" dirty="0">
                          <a:latin typeface="Times New Roman" panose="02020603050405020304" pitchFamily="18" charset="0"/>
                          <a:cs typeface="Times New Roman" panose="02020603050405020304" pitchFamily="18" charset="0"/>
                        </a:rPr>
                        <a:t> or Future Work</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562883">
                <a:tc>
                  <a:txBody>
                    <a:bodyPr/>
                    <a:lstStyle/>
                    <a:p>
                      <a:pPr algn="l"/>
                      <a:r>
                        <a:rPr lang="en-US" dirty="0" err="1">
                          <a:latin typeface="Times New Roman" panose="02020603050405020304" pitchFamily="18" charset="0"/>
                          <a:cs typeface="Times New Roman" panose="02020603050405020304" pitchFamily="18" charset="0"/>
                        </a:rPr>
                        <a:t>Ezeofor</a:t>
                      </a:r>
                      <a:r>
                        <a:rPr lang="en-US" dirty="0">
                          <a:latin typeface="Times New Roman" panose="02020603050405020304" pitchFamily="18" charset="0"/>
                          <a:cs typeface="Times New Roman" panose="02020603050405020304" pitchFamily="18" charset="0"/>
                        </a:rPr>
                        <a:t> C. Joseph, </a:t>
                      </a:r>
                      <a:r>
                        <a:rPr lang="en-US" dirty="0" err="1">
                          <a:latin typeface="Times New Roman" panose="02020603050405020304" pitchFamily="18" charset="0"/>
                          <a:cs typeface="Times New Roman" panose="02020603050405020304" pitchFamily="18" charset="0"/>
                        </a:rPr>
                        <a:t>Egbuaba</a:t>
                      </a:r>
                      <a:r>
                        <a:rPr lang="en-US" dirty="0">
                          <a:latin typeface="Times New Roman" panose="02020603050405020304" pitchFamily="18" charset="0"/>
                          <a:cs typeface="Times New Roman" panose="02020603050405020304" pitchFamily="18" charset="0"/>
                        </a:rPr>
                        <a:t> C. Chigozie, and Others: "Prototype Development of Hand Wearable RF Locator with Smart Walking Aid for the Blind"</a:t>
                      </a:r>
                    </a:p>
                  </a:txBody>
                  <a:tcPr/>
                </a:tc>
                <a:tc>
                  <a:txBody>
                    <a:bodyPr/>
                    <a:lstStyle/>
                    <a:p>
                      <a:r>
                        <a:rPr lang="en-US" dirty="0">
                          <a:latin typeface="Times New Roman" panose="02020603050405020304" pitchFamily="18" charset="0"/>
                          <a:cs typeface="Times New Roman" panose="02020603050405020304" pitchFamily="18" charset="0"/>
                        </a:rPr>
                        <a:t>Indian Journal of Engineering, ISSN 23197757, Vol. 1951, pp. 173-183, Published 24 April 2022, University of Port Harcourt, Nigeria</a:t>
                      </a:r>
                    </a:p>
                  </a:txBody>
                  <a:tcPr/>
                </a:tc>
                <a:tc>
                  <a:txBody>
                    <a:bodyPr/>
                    <a:lstStyle/>
                    <a:p>
                      <a:r>
                        <a:rPr lang="en-US" dirty="0">
                          <a:latin typeface="Times New Roman" panose="02020603050405020304" pitchFamily="18" charset="0"/>
                          <a:cs typeface="Times New Roman" panose="02020603050405020304" pitchFamily="18" charset="0"/>
                        </a:rPr>
                        <a:t>Visually impaired people suffer loss of mobility and misplace walking aids. Developed a hand wearable RF locator and smart walking stick with Arduino ATmega328P, proximity sensor, buzzer, and 433 MHz RF modules; detects obstacles and locates lost walking aid using sound alarm.</a:t>
                      </a:r>
                    </a:p>
                  </a:txBody>
                  <a:tcPr/>
                </a:tc>
                <a:tc>
                  <a:txBody>
                    <a:bodyPr/>
                    <a:lstStyle/>
                    <a:p>
                      <a:r>
                        <a:rPr lang="en-US" dirty="0">
                          <a:latin typeface="Times New Roman" panose="02020603050405020304" pitchFamily="18" charset="0"/>
                          <a:cs typeface="Times New Roman" panose="02020603050405020304" pitchFamily="18" charset="0"/>
                        </a:rPr>
                        <a:t>Tested with visually impaired participants; system reliably detected obstacles within 15 cm, sound alarm for lost stick worked well, rechargeable battery functional; enhances independent.</a:t>
                      </a:r>
                    </a:p>
                  </a:txBody>
                  <a:tcPr/>
                </a:tc>
                <a:tc>
                  <a:txBody>
                    <a:bodyPr/>
                    <a:lstStyle/>
                    <a:p>
                      <a:r>
                        <a:rPr lang="en-US" dirty="0">
                          <a:latin typeface="Times New Roman" panose="02020603050405020304" pitchFamily="18" charset="0"/>
                          <a:cs typeface="Times New Roman" panose="02020603050405020304" pitchFamily="18" charset="0"/>
                        </a:rPr>
                        <a:t>Limited testing scenarios; cannot detect ground holes, future work suggested includes adding alerts for ground pits and applying deep learning for improved obstacle recognition and navigation.</a:t>
                      </a:r>
                    </a:p>
                  </a:txBody>
                  <a:tcPr/>
                </a:tc>
                <a:extLst>
                  <a:ext uri="{0D108BD9-81ED-4DB2-BD59-A6C34878D82A}">
                    <a16:rowId xmlns:a16="http://schemas.microsoft.com/office/drawing/2014/main" val="10001"/>
                  </a:ext>
                </a:extLst>
              </a:tr>
            </a:tbl>
          </a:graphicData>
        </a:graphic>
      </p:graphicFrame>
      <p:sp>
        <p:nvSpPr>
          <p:cNvPr id="4" name="Slide Number Placeholder 3">
            <a:extLst>
              <a:ext uri="{FF2B5EF4-FFF2-40B4-BE49-F238E27FC236}">
                <a16:creationId xmlns:a16="http://schemas.microsoft.com/office/drawing/2014/main" id="{8F1A0AD6-BDFC-2E11-AF94-406FC9153202}"/>
              </a:ext>
            </a:extLst>
          </p:cNvPr>
          <p:cNvSpPr>
            <a:spLocks noGrp="1"/>
          </p:cNvSpPr>
          <p:nvPr>
            <p:ph type="sldNum" sz="quarter" idx="12"/>
          </p:nvPr>
        </p:nvSpPr>
        <p:spPr>
          <a:xfrm>
            <a:off x="6553199" y="6356350"/>
            <a:ext cx="2514599" cy="365125"/>
          </a:xfrm>
        </p:spPr>
        <p:txBody>
          <a:bodyPr/>
          <a:lstStyle/>
          <a:p>
            <a:fld id="{B6F15528-21DE-4FAA-801E-634DDDAF4B2B}" type="slidenum">
              <a:rPr lang="en-US" smtClean="0"/>
              <a:t>5</a:t>
            </a:fld>
            <a:endParaRPr lang="en-US" dirty="0"/>
          </a:p>
        </p:txBody>
      </p:sp>
      <p:pic>
        <p:nvPicPr>
          <p:cNvPr id="6" name="Picture 5" descr="E:\Shiva\VTU-logo.png">
            <a:extLst>
              <a:ext uri="{FF2B5EF4-FFF2-40B4-BE49-F238E27FC236}">
                <a16:creationId xmlns:a16="http://schemas.microsoft.com/office/drawing/2014/main" id="{D12EAA52-8C47-0CF3-BAEB-304913654BA0}"/>
              </a:ext>
            </a:extLst>
          </p:cNvPr>
          <p:cNvPicPr/>
          <p:nvPr/>
        </p:nvPicPr>
        <p:blipFill>
          <a:blip r:embed="rId2" cstate="print"/>
          <a:srcRect/>
          <a:stretch>
            <a:fillRect/>
          </a:stretch>
        </p:blipFill>
        <p:spPr bwMode="auto">
          <a:xfrm>
            <a:off x="8086201" y="0"/>
            <a:ext cx="1057799" cy="1143001"/>
          </a:xfrm>
          <a:prstGeom prst="rect">
            <a:avLst/>
          </a:prstGeom>
          <a:noFill/>
          <a:ln w="9525">
            <a:noFill/>
            <a:miter lim="800000"/>
            <a:headEnd/>
            <a:tailEnd/>
          </a:ln>
        </p:spPr>
      </p:pic>
      <p:pic>
        <p:nvPicPr>
          <p:cNvPr id="9" name="Picture 8">
            <a:extLst>
              <a:ext uri="{FF2B5EF4-FFF2-40B4-BE49-F238E27FC236}">
                <a16:creationId xmlns:a16="http://schemas.microsoft.com/office/drawing/2014/main" id="{23C7FC39-41E3-6B9A-0AA3-EE7CC6FAED0F}"/>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0" y="-32163"/>
            <a:ext cx="1057799" cy="1181100"/>
          </a:xfrm>
          <a:prstGeom prst="rect">
            <a:avLst/>
          </a:prstGeom>
        </p:spPr>
      </p:pic>
    </p:spTree>
    <p:extLst>
      <p:ext uri="{BB962C8B-B14F-4D97-AF65-F5344CB8AC3E}">
        <p14:creationId xmlns:p14="http://schemas.microsoft.com/office/powerpoint/2010/main" val="42304030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4EAC-FD8E-B6BC-E4DD-7331A8A1F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33C0A-B0B0-4528-0A48-ABED4026C536}"/>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8" name="Content Placeholder 7">
            <a:extLst>
              <a:ext uri="{FF2B5EF4-FFF2-40B4-BE49-F238E27FC236}">
                <a16:creationId xmlns:a16="http://schemas.microsoft.com/office/drawing/2014/main" id="{D76EB2EA-DC9E-347B-5805-2B4DF0BE5773}"/>
              </a:ext>
            </a:extLst>
          </p:cNvPr>
          <p:cNvGraphicFramePr>
            <a:graphicFrameLocks noGrp="1"/>
          </p:cNvGraphicFramePr>
          <p:nvPr>
            <p:ph idx="1"/>
          </p:nvPr>
        </p:nvGraphicFramePr>
        <p:xfrm>
          <a:off x="495300" y="1193038"/>
          <a:ext cx="8191501" cy="5550584"/>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1602142">
                  <a:extLst>
                    <a:ext uri="{9D8B030D-6E8A-4147-A177-3AD203B41FA5}">
                      <a16:colId xmlns:a16="http://schemas.microsoft.com/office/drawing/2014/main" val="20003"/>
                    </a:ext>
                  </a:extLst>
                </a:gridCol>
                <a:gridCol w="1750659">
                  <a:extLst>
                    <a:ext uri="{9D8B030D-6E8A-4147-A177-3AD203B41FA5}">
                      <a16:colId xmlns:a16="http://schemas.microsoft.com/office/drawing/2014/main" val="20004"/>
                    </a:ext>
                  </a:extLst>
                </a:gridCol>
              </a:tblGrid>
              <a:tr h="892253">
                <a:tc>
                  <a:txBody>
                    <a:bodyPr/>
                    <a:lstStyle/>
                    <a:p>
                      <a:r>
                        <a:rPr lang="en-IN" dirty="0">
                          <a:latin typeface="Times New Roman" panose="02020603050405020304" pitchFamily="18" charset="0"/>
                          <a:cs typeface="Times New Roman" panose="02020603050405020304" pitchFamily="18" charset="0"/>
                        </a:rPr>
                        <a:t>Author</a:t>
                      </a:r>
                      <a:r>
                        <a:rPr lang="en-IN" baseline="0" dirty="0">
                          <a:latin typeface="Times New Roman" panose="02020603050405020304" pitchFamily="18" charset="0"/>
                          <a:cs typeface="Times New Roman" panose="02020603050405020304" pitchFamily="18" charset="0"/>
                        </a:rPr>
                        <a:t>s &amp;</a:t>
                      </a:r>
                    </a:p>
                    <a:p>
                      <a:r>
                        <a:rPr lang="en-IN" baseline="0" dirty="0">
                          <a:latin typeface="Times New Roman" panose="02020603050405020304" pitchFamily="18" charset="0"/>
                          <a:cs typeface="Times New Roman" panose="02020603050405020304" pitchFamily="18" charset="0"/>
                        </a:rPr>
                        <a:t>Title </a:t>
                      </a:r>
                      <a:endParaRPr lang="en-US"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Publication</a:t>
                      </a:r>
                      <a:r>
                        <a:rPr lang="en-IN" baseline="0" dirty="0">
                          <a:latin typeface="Times New Roman" panose="02020603050405020304" pitchFamily="18" charset="0"/>
                          <a:cs typeface="Times New Roman" panose="02020603050405020304" pitchFamily="18" charset="0"/>
                        </a:rPr>
                        <a:t> details and date</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Problem identified &amp; </a:t>
                      </a:r>
                      <a:r>
                        <a:rPr lang="en-IN" dirty="0">
                          <a:latin typeface="Times New Roman" panose="02020603050405020304" pitchFamily="18" charset="0"/>
                          <a:cs typeface="Times New Roman" panose="02020603050405020304" pitchFamily="18" charset="0"/>
                        </a:rPr>
                        <a:t>Techniques used</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a:latin typeface="Times New Roman" panose="02020603050405020304" pitchFamily="18" charset="0"/>
                          <a:cs typeface="Times New Roman" panose="02020603050405020304" pitchFamily="18" charset="0"/>
                        </a:rPr>
                        <a:t>Outcome</a:t>
                      </a:r>
                      <a:r>
                        <a:rPr lang="en-IN" baseline="0" dirty="0">
                          <a:latin typeface="Times New Roman" panose="02020603050405020304" pitchFamily="18" charset="0"/>
                          <a:cs typeface="Times New Roman" panose="02020603050405020304" pitchFamily="18" charset="0"/>
                        </a:rPr>
                        <a:t> or performance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Disadvantage</a:t>
                      </a:r>
                      <a:r>
                        <a:rPr lang="en-US" baseline="0" dirty="0">
                          <a:latin typeface="Times New Roman" panose="02020603050405020304" pitchFamily="18" charset="0"/>
                          <a:cs typeface="Times New Roman" panose="02020603050405020304" pitchFamily="18" charset="0"/>
                        </a:rPr>
                        <a:t> or Future Work</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636184">
                <a:tc>
                  <a:txBody>
                    <a:bodyPr/>
                    <a:lstStyle/>
                    <a:p>
                      <a:pPr algn="l"/>
                      <a:r>
                        <a:rPr lang="en-US" dirty="0">
                          <a:latin typeface="Times New Roman" panose="02020603050405020304" pitchFamily="18" charset="0"/>
                          <a:cs typeface="Times New Roman" panose="02020603050405020304" pitchFamily="18" charset="0"/>
                        </a:rPr>
                        <a:t>Adedotun O. </a:t>
                      </a:r>
                      <a:r>
                        <a:rPr lang="en-US" dirty="0" err="1">
                          <a:latin typeface="Times New Roman" panose="02020603050405020304" pitchFamily="18" charset="0"/>
                          <a:cs typeface="Times New Roman" panose="02020603050405020304" pitchFamily="18" charset="0"/>
                        </a:rPr>
                        <a:t>Owojori</a:t>
                      </a:r>
                      <a:r>
                        <a:rPr lang="en-US" dirty="0">
                          <a:latin typeface="Times New Roman" panose="02020603050405020304" pitchFamily="18" charset="0"/>
                          <a:cs typeface="Times New Roman" panose="02020603050405020304" pitchFamily="18" charset="0"/>
                        </a:rPr>
                        <a:t>, Jane O. O. </a:t>
                      </a:r>
                      <a:r>
                        <a:rPr lang="en-US" dirty="0" err="1">
                          <a:latin typeface="Times New Roman" panose="02020603050405020304" pitchFamily="18" charset="0"/>
                          <a:cs typeface="Times New Roman" panose="02020603050405020304" pitchFamily="18" charset="0"/>
                        </a:rPr>
                        <a:t>Mebawondu</a:t>
                      </a:r>
                      <a:r>
                        <a:rPr lang="en-US" dirty="0">
                          <a:latin typeface="Times New Roman" panose="02020603050405020304" pitchFamily="18" charset="0"/>
                          <a:cs typeface="Times New Roman" panose="02020603050405020304" pitchFamily="18" charset="0"/>
                        </a:rPr>
                        <a:t>, and Others: "Design of an Obstacle and Location-Based Detector with Microcontroller System"</a:t>
                      </a:r>
                    </a:p>
                  </a:txBody>
                  <a:tcPr/>
                </a:tc>
                <a:tc>
                  <a:txBody>
                    <a:bodyPr/>
                    <a:lstStyle/>
                    <a:p>
                      <a:r>
                        <a:rPr lang="en-US" dirty="0">
                          <a:latin typeface="Times New Roman" panose="02020603050405020304" pitchFamily="18" charset="0"/>
                          <a:cs typeface="Times New Roman" panose="02020603050405020304" pitchFamily="18" charset="0"/>
                        </a:rPr>
                        <a:t>EJECE, European Journal of Electrical Engineering and Computer Science, Vol. 5 Issue 2, April 2021, Federal University of Technology Akure</a:t>
                      </a:r>
                    </a:p>
                  </a:txBody>
                  <a:tcPr/>
                </a:tc>
                <a:tc>
                  <a:txBody>
                    <a:bodyPr/>
                    <a:lstStyle/>
                    <a:p>
                      <a:r>
                        <a:rPr lang="en-US" dirty="0">
                          <a:latin typeface="Times New Roman" panose="02020603050405020304" pitchFamily="18" charset="0"/>
                          <a:cs typeface="Times New Roman" panose="02020603050405020304" pitchFamily="18" charset="0"/>
                        </a:rPr>
                        <a:t>Designed a wearable device with Arduino Nano, ultrasonic sensor for obstacle detection, SIM808 module for GPS and GSM, and buzzer. Device detects obstacles, alerts users, and sends location via SMS to guardians using Google Maps link for Visually impaired people.</a:t>
                      </a:r>
                    </a:p>
                  </a:txBody>
                  <a:tcPr/>
                </a:tc>
                <a:tc>
                  <a:txBody>
                    <a:bodyPr/>
                    <a:lstStyle/>
                    <a:p>
                      <a:r>
                        <a:rPr lang="en-US" dirty="0">
                          <a:latin typeface="Times New Roman" panose="02020603050405020304" pitchFamily="18" charset="0"/>
                          <a:cs typeface="Times New Roman" panose="02020603050405020304" pitchFamily="18" charset="0"/>
                        </a:rPr>
                        <a:t>Simulation and hardware tests successfully showed real-time obstacle detection and location tracking; buzzer alerts users of obstacles; system sends SMS to guardians for location monitoring</a:t>
                      </a:r>
                    </a:p>
                  </a:txBody>
                  <a:tcPr/>
                </a:tc>
                <a:tc>
                  <a:txBody>
                    <a:bodyPr/>
                    <a:lstStyle/>
                    <a:p>
                      <a:r>
                        <a:rPr lang="en-US" dirty="0">
                          <a:latin typeface="Times New Roman" panose="02020603050405020304" pitchFamily="18" charset="0"/>
                          <a:cs typeface="Times New Roman" panose="02020603050405020304" pitchFamily="18" charset="0"/>
                        </a:rPr>
                        <a:t>Requires outdoor access for GPS fixes; only buzzer alert for obstacles, future work could include ground pit detection and better indoor localization, as well as integration with IoT devices for real-time monitoring.</a:t>
                      </a:r>
                    </a:p>
                  </a:txBody>
                  <a:tcPr/>
                </a:tc>
                <a:extLst>
                  <a:ext uri="{0D108BD9-81ED-4DB2-BD59-A6C34878D82A}">
                    <a16:rowId xmlns:a16="http://schemas.microsoft.com/office/drawing/2014/main" val="10001"/>
                  </a:ext>
                </a:extLst>
              </a:tr>
            </a:tbl>
          </a:graphicData>
        </a:graphic>
      </p:graphicFrame>
      <p:sp>
        <p:nvSpPr>
          <p:cNvPr id="4" name="Slide Number Placeholder 3">
            <a:extLst>
              <a:ext uri="{FF2B5EF4-FFF2-40B4-BE49-F238E27FC236}">
                <a16:creationId xmlns:a16="http://schemas.microsoft.com/office/drawing/2014/main" id="{622A0CEE-BE88-ED6D-043D-3292F619869D}"/>
              </a:ext>
            </a:extLst>
          </p:cNvPr>
          <p:cNvSpPr>
            <a:spLocks noGrp="1"/>
          </p:cNvSpPr>
          <p:nvPr>
            <p:ph type="sldNum" sz="quarter" idx="12"/>
          </p:nvPr>
        </p:nvSpPr>
        <p:spPr>
          <a:xfrm>
            <a:off x="6553200" y="6356350"/>
            <a:ext cx="2438400" cy="365125"/>
          </a:xfrm>
        </p:spPr>
        <p:txBody>
          <a:bodyPr/>
          <a:lstStyle/>
          <a:p>
            <a:fld id="{B6F15528-21DE-4FAA-801E-634DDDAF4B2B}" type="slidenum">
              <a:rPr lang="en-US" smtClean="0"/>
              <a:t>6</a:t>
            </a:fld>
            <a:endParaRPr lang="en-US" dirty="0"/>
          </a:p>
        </p:txBody>
      </p:sp>
      <p:pic>
        <p:nvPicPr>
          <p:cNvPr id="6" name="Picture 5" descr="E:\Shiva\VTU-logo.png">
            <a:extLst>
              <a:ext uri="{FF2B5EF4-FFF2-40B4-BE49-F238E27FC236}">
                <a16:creationId xmlns:a16="http://schemas.microsoft.com/office/drawing/2014/main" id="{FA9E604A-9107-5237-FAC7-9C624A50E270}"/>
              </a:ext>
            </a:extLst>
          </p:cNvPr>
          <p:cNvPicPr/>
          <p:nvPr/>
        </p:nvPicPr>
        <p:blipFill>
          <a:blip r:embed="rId2" cstate="print"/>
          <a:srcRect/>
          <a:stretch>
            <a:fillRect/>
          </a:stretch>
        </p:blipFill>
        <p:spPr bwMode="auto">
          <a:xfrm>
            <a:off x="8086201" y="0"/>
            <a:ext cx="1057799" cy="1143001"/>
          </a:xfrm>
          <a:prstGeom prst="rect">
            <a:avLst/>
          </a:prstGeom>
          <a:noFill/>
          <a:ln w="9525">
            <a:noFill/>
            <a:miter lim="800000"/>
            <a:headEnd/>
            <a:tailEnd/>
          </a:ln>
        </p:spPr>
      </p:pic>
      <p:pic>
        <p:nvPicPr>
          <p:cNvPr id="9" name="Picture 8">
            <a:extLst>
              <a:ext uri="{FF2B5EF4-FFF2-40B4-BE49-F238E27FC236}">
                <a16:creationId xmlns:a16="http://schemas.microsoft.com/office/drawing/2014/main" id="{AC47DAAC-0487-5884-5748-58CF89C9BF81}"/>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0" y="-32163"/>
            <a:ext cx="1057799" cy="1181100"/>
          </a:xfrm>
          <a:prstGeom prst="rect">
            <a:avLst/>
          </a:prstGeom>
        </p:spPr>
      </p:pic>
    </p:spTree>
    <p:extLst>
      <p:ext uri="{BB962C8B-B14F-4D97-AF65-F5344CB8AC3E}">
        <p14:creationId xmlns:p14="http://schemas.microsoft.com/office/powerpoint/2010/main" val="88392998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F10DE-56F5-A762-CAF0-8156D9A40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8233D-4D97-EBC4-F265-68D20CE1E959}"/>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8" name="Content Placeholder 7">
            <a:extLst>
              <a:ext uri="{FF2B5EF4-FFF2-40B4-BE49-F238E27FC236}">
                <a16:creationId xmlns:a16="http://schemas.microsoft.com/office/drawing/2014/main" id="{788C587A-361D-9951-F968-2A92F505408A}"/>
              </a:ext>
            </a:extLst>
          </p:cNvPr>
          <p:cNvGraphicFramePr>
            <a:graphicFrameLocks noGrp="1"/>
          </p:cNvGraphicFramePr>
          <p:nvPr>
            <p:ph idx="1"/>
          </p:nvPr>
        </p:nvGraphicFramePr>
        <p:xfrm>
          <a:off x="463296" y="1198499"/>
          <a:ext cx="7860164" cy="5394960"/>
        </p:xfrm>
        <a:graphic>
          <a:graphicData uri="http://schemas.openxmlformats.org/drawingml/2006/table">
            <a:tbl>
              <a:tblPr firstRow="1" bandRow="1">
                <a:tableStyleId>{5C22544A-7EE6-4342-B048-85BDC9FD1C3A}</a:tableStyleId>
              </a:tblPr>
              <a:tblGrid>
                <a:gridCol w="1213104">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2200925">
                  <a:extLst>
                    <a:ext uri="{9D8B030D-6E8A-4147-A177-3AD203B41FA5}">
                      <a16:colId xmlns:a16="http://schemas.microsoft.com/office/drawing/2014/main" val="20002"/>
                    </a:ext>
                  </a:extLst>
                </a:gridCol>
                <a:gridCol w="1484419">
                  <a:extLst>
                    <a:ext uri="{9D8B030D-6E8A-4147-A177-3AD203B41FA5}">
                      <a16:colId xmlns:a16="http://schemas.microsoft.com/office/drawing/2014/main" val="20003"/>
                    </a:ext>
                  </a:extLst>
                </a:gridCol>
                <a:gridCol w="1742516">
                  <a:extLst>
                    <a:ext uri="{9D8B030D-6E8A-4147-A177-3AD203B41FA5}">
                      <a16:colId xmlns:a16="http://schemas.microsoft.com/office/drawing/2014/main" val="20004"/>
                    </a:ext>
                  </a:extLst>
                </a:gridCol>
              </a:tblGrid>
              <a:tr h="877478">
                <a:tc>
                  <a:txBody>
                    <a:bodyPr/>
                    <a:lstStyle/>
                    <a:p>
                      <a:r>
                        <a:rPr lang="en-IN" dirty="0">
                          <a:latin typeface="Times New Roman" panose="02020603050405020304" pitchFamily="18" charset="0"/>
                          <a:cs typeface="Times New Roman" panose="02020603050405020304" pitchFamily="18" charset="0"/>
                        </a:rPr>
                        <a:t>Author</a:t>
                      </a:r>
                      <a:r>
                        <a:rPr lang="en-IN" baseline="0" dirty="0">
                          <a:latin typeface="Times New Roman" panose="02020603050405020304" pitchFamily="18" charset="0"/>
                          <a:cs typeface="Times New Roman" panose="02020603050405020304" pitchFamily="18" charset="0"/>
                        </a:rPr>
                        <a:t>s &amp;</a:t>
                      </a:r>
                    </a:p>
                    <a:p>
                      <a:r>
                        <a:rPr lang="en-IN" baseline="0" dirty="0">
                          <a:latin typeface="Times New Roman" panose="02020603050405020304" pitchFamily="18" charset="0"/>
                          <a:cs typeface="Times New Roman" panose="02020603050405020304" pitchFamily="18" charset="0"/>
                        </a:rPr>
                        <a:t>Title </a:t>
                      </a:r>
                      <a:endParaRPr lang="en-US"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Publication</a:t>
                      </a:r>
                      <a:r>
                        <a:rPr lang="en-IN" baseline="0" dirty="0">
                          <a:latin typeface="Times New Roman" panose="02020603050405020304" pitchFamily="18" charset="0"/>
                          <a:cs typeface="Times New Roman" panose="02020603050405020304" pitchFamily="18" charset="0"/>
                        </a:rPr>
                        <a:t> details and date</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Problem identified &amp; </a:t>
                      </a:r>
                      <a:r>
                        <a:rPr lang="en-IN" dirty="0">
                          <a:latin typeface="Times New Roman" panose="02020603050405020304" pitchFamily="18" charset="0"/>
                          <a:cs typeface="Times New Roman" panose="02020603050405020304" pitchFamily="18" charset="0"/>
                        </a:rPr>
                        <a:t>Techniques used</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a:latin typeface="Times New Roman" panose="02020603050405020304" pitchFamily="18" charset="0"/>
                          <a:cs typeface="Times New Roman" panose="02020603050405020304" pitchFamily="18" charset="0"/>
                        </a:rPr>
                        <a:t>Outcome</a:t>
                      </a:r>
                      <a:r>
                        <a:rPr lang="en-IN" baseline="0" dirty="0">
                          <a:latin typeface="Times New Roman" panose="02020603050405020304" pitchFamily="18" charset="0"/>
                          <a:cs typeface="Times New Roman" panose="02020603050405020304" pitchFamily="18" charset="0"/>
                        </a:rPr>
                        <a:t> or performance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Disadvantage</a:t>
                      </a:r>
                      <a:r>
                        <a:rPr lang="en-US" baseline="0" dirty="0">
                          <a:latin typeface="Times New Roman" panose="02020603050405020304" pitchFamily="18" charset="0"/>
                          <a:cs typeface="Times New Roman" panose="02020603050405020304" pitchFamily="18" charset="0"/>
                        </a:rPr>
                        <a:t> or Future Work</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367811">
                <a:tc>
                  <a:txBody>
                    <a:bodyPr/>
                    <a:lstStyle/>
                    <a:p>
                      <a:pPr algn="l"/>
                      <a:r>
                        <a:rPr lang="en-US" dirty="0">
                          <a:latin typeface="Times New Roman" panose="02020603050405020304" pitchFamily="18" charset="0"/>
                          <a:cs typeface="Times New Roman" panose="02020603050405020304" pitchFamily="18" charset="0"/>
                        </a:rPr>
                        <a:t>Mangesh Ahire, Rahul Kotwal, and Others: "RFID based E-Tourist Guide"</a:t>
                      </a:r>
                    </a:p>
                  </a:txBody>
                  <a:tcPr/>
                </a:tc>
                <a:tc>
                  <a:txBody>
                    <a:bodyPr/>
                    <a:lstStyle/>
                    <a:p>
                      <a:r>
                        <a:rPr lang="en-US" dirty="0">
                          <a:latin typeface="Times New Roman" panose="02020603050405020304" pitchFamily="18" charset="0"/>
                          <a:cs typeface="Times New Roman" panose="02020603050405020304" pitchFamily="18" charset="0"/>
                        </a:rPr>
                        <a:t>IRJET, Vol. 8, Issue 3, Mar 2021, Sandip Institute of Technology and Research Centre, Nashik</a:t>
                      </a:r>
                    </a:p>
                  </a:txBody>
                  <a:tcPr/>
                </a:tc>
                <a:tc>
                  <a:txBody>
                    <a:bodyPr/>
                    <a:lstStyle/>
                    <a:p>
                      <a:r>
                        <a:rPr lang="en-US" dirty="0">
                          <a:latin typeface="Times New Roman" panose="02020603050405020304" pitchFamily="18" charset="0"/>
                          <a:cs typeface="Times New Roman" panose="02020603050405020304" pitchFamily="18" charset="0"/>
                        </a:rPr>
                        <a:t>Tourists face issues like misinformation, language barriers, and unreliable human guides. Designed an autonomous, multilingual E-tourist guide using RFID cards for login, STM32 microcontroller, GSM module for notifications, OLED display, and voice module for stored audio notes. </a:t>
                      </a:r>
                    </a:p>
                  </a:txBody>
                  <a:tcPr/>
                </a:tc>
                <a:tc>
                  <a:txBody>
                    <a:bodyPr/>
                    <a:lstStyle/>
                    <a:p>
                      <a:r>
                        <a:rPr lang="en-US" dirty="0">
                          <a:latin typeface="Times New Roman" panose="02020603050405020304" pitchFamily="18" charset="0"/>
                          <a:cs typeface="Times New Roman" panose="02020603050405020304" pitchFamily="18" charset="0"/>
                        </a:rPr>
                        <a:t>Provides timely audio, text, and SMS updates to tourists; multilingual support  not dependent on internet or GPS for main features; reduces human intervention; low power consumption; </a:t>
                      </a:r>
                    </a:p>
                  </a:txBody>
                  <a:tcPr/>
                </a:tc>
                <a:tc>
                  <a:txBody>
                    <a:bodyPr/>
                    <a:lstStyle/>
                    <a:p>
                      <a:r>
                        <a:rPr lang="en-US" dirty="0">
                          <a:latin typeface="Times New Roman" panose="02020603050405020304" pitchFamily="18" charset="0"/>
                          <a:cs typeface="Times New Roman" panose="02020603050405020304" pitchFamily="18" charset="0"/>
                        </a:rPr>
                        <a:t>System not widely field-tested beyond demonstration; location features limited if GPS/internet is unavailable; future work could expand language support, enhance robustness.</a:t>
                      </a:r>
                    </a:p>
                  </a:txBody>
                  <a:tcPr/>
                </a:tc>
                <a:extLst>
                  <a:ext uri="{0D108BD9-81ED-4DB2-BD59-A6C34878D82A}">
                    <a16:rowId xmlns:a16="http://schemas.microsoft.com/office/drawing/2014/main" val="10001"/>
                  </a:ext>
                </a:extLst>
              </a:tr>
            </a:tbl>
          </a:graphicData>
        </a:graphic>
      </p:graphicFrame>
      <p:sp>
        <p:nvSpPr>
          <p:cNvPr id="4" name="Slide Number Placeholder 3">
            <a:extLst>
              <a:ext uri="{FF2B5EF4-FFF2-40B4-BE49-F238E27FC236}">
                <a16:creationId xmlns:a16="http://schemas.microsoft.com/office/drawing/2014/main" id="{4DC658A6-3139-F2E2-64BA-042F1EC0A95F}"/>
              </a:ext>
            </a:extLst>
          </p:cNvPr>
          <p:cNvSpPr>
            <a:spLocks noGrp="1"/>
          </p:cNvSpPr>
          <p:nvPr>
            <p:ph type="sldNum" sz="quarter" idx="12"/>
          </p:nvPr>
        </p:nvSpPr>
        <p:spPr/>
        <p:txBody>
          <a:bodyPr/>
          <a:lstStyle/>
          <a:p>
            <a:fld id="{B6F15528-21DE-4FAA-801E-634DDDAF4B2B}" type="slidenum">
              <a:rPr lang="en-US" smtClean="0"/>
              <a:t>7</a:t>
            </a:fld>
            <a:endParaRPr lang="en-US"/>
          </a:p>
        </p:txBody>
      </p:sp>
      <p:pic>
        <p:nvPicPr>
          <p:cNvPr id="6" name="Picture 5" descr="E:\Shiva\VTU-logo.png">
            <a:extLst>
              <a:ext uri="{FF2B5EF4-FFF2-40B4-BE49-F238E27FC236}">
                <a16:creationId xmlns:a16="http://schemas.microsoft.com/office/drawing/2014/main" id="{FB7552DE-3BD3-9BF7-509F-96273AEAB48D}"/>
              </a:ext>
            </a:extLst>
          </p:cNvPr>
          <p:cNvPicPr/>
          <p:nvPr/>
        </p:nvPicPr>
        <p:blipFill>
          <a:blip r:embed="rId2" cstate="print"/>
          <a:srcRect/>
          <a:stretch>
            <a:fillRect/>
          </a:stretch>
        </p:blipFill>
        <p:spPr bwMode="auto">
          <a:xfrm>
            <a:off x="8086201" y="0"/>
            <a:ext cx="1057799" cy="1143001"/>
          </a:xfrm>
          <a:prstGeom prst="rect">
            <a:avLst/>
          </a:prstGeom>
          <a:noFill/>
          <a:ln w="9525">
            <a:noFill/>
            <a:miter lim="800000"/>
            <a:headEnd/>
            <a:tailEnd/>
          </a:ln>
        </p:spPr>
      </p:pic>
      <p:pic>
        <p:nvPicPr>
          <p:cNvPr id="9" name="Picture 8">
            <a:extLst>
              <a:ext uri="{FF2B5EF4-FFF2-40B4-BE49-F238E27FC236}">
                <a16:creationId xmlns:a16="http://schemas.microsoft.com/office/drawing/2014/main" id="{28617B58-F797-C0A5-0EE7-FD8D41D6BE05}"/>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0" y="27432"/>
            <a:ext cx="1057799" cy="1143000"/>
          </a:xfrm>
          <a:prstGeom prst="rect">
            <a:avLst/>
          </a:prstGeom>
        </p:spPr>
      </p:pic>
    </p:spTree>
    <p:extLst>
      <p:ext uri="{BB962C8B-B14F-4D97-AF65-F5344CB8AC3E}">
        <p14:creationId xmlns:p14="http://schemas.microsoft.com/office/powerpoint/2010/main" val="29258983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8" name="Content Placeholder 7"/>
          <p:cNvGraphicFramePr>
            <a:graphicFrameLocks noGrp="1"/>
          </p:cNvGraphicFramePr>
          <p:nvPr>
            <p:ph idx="1"/>
          </p:nvPr>
        </p:nvGraphicFramePr>
        <p:xfrm>
          <a:off x="457200" y="1569720"/>
          <a:ext cx="8229600" cy="48463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8897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805543">
                <a:tc>
                  <a:txBody>
                    <a:bodyPr/>
                    <a:lstStyle/>
                    <a:p>
                      <a:r>
                        <a:rPr lang="en-IN" dirty="0">
                          <a:latin typeface="Times New Roman" panose="02020603050405020304" pitchFamily="18" charset="0"/>
                          <a:cs typeface="Times New Roman" panose="02020603050405020304" pitchFamily="18" charset="0"/>
                        </a:rPr>
                        <a:t>Author</a:t>
                      </a:r>
                      <a:r>
                        <a:rPr lang="en-IN" baseline="0" dirty="0">
                          <a:latin typeface="Times New Roman" panose="02020603050405020304" pitchFamily="18" charset="0"/>
                          <a:cs typeface="Times New Roman" panose="02020603050405020304" pitchFamily="18" charset="0"/>
                        </a:rPr>
                        <a:t>s &amp;</a:t>
                      </a:r>
                    </a:p>
                    <a:p>
                      <a:r>
                        <a:rPr lang="en-IN" baseline="0" dirty="0">
                          <a:latin typeface="Times New Roman" panose="02020603050405020304" pitchFamily="18" charset="0"/>
                          <a:cs typeface="Times New Roman" panose="02020603050405020304" pitchFamily="18" charset="0"/>
                        </a:rPr>
                        <a:t>Title </a:t>
                      </a:r>
                      <a:endParaRPr lang="en-US"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Publication</a:t>
                      </a:r>
                      <a:r>
                        <a:rPr lang="en-IN" baseline="0" dirty="0">
                          <a:latin typeface="Times New Roman" panose="02020603050405020304" pitchFamily="18" charset="0"/>
                          <a:cs typeface="Times New Roman" panose="02020603050405020304" pitchFamily="18" charset="0"/>
                        </a:rPr>
                        <a:t> details and date</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Problem identified &amp; </a:t>
                      </a:r>
                      <a:r>
                        <a:rPr lang="en-IN" dirty="0">
                          <a:latin typeface="Times New Roman" panose="02020603050405020304" pitchFamily="18" charset="0"/>
                          <a:cs typeface="Times New Roman" panose="02020603050405020304" pitchFamily="18" charset="0"/>
                        </a:rPr>
                        <a:t>Techniques used</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dirty="0">
                          <a:latin typeface="Times New Roman" panose="02020603050405020304" pitchFamily="18" charset="0"/>
                          <a:cs typeface="Times New Roman" panose="02020603050405020304" pitchFamily="18" charset="0"/>
                        </a:rPr>
                        <a:t>Outcome</a:t>
                      </a:r>
                      <a:r>
                        <a:rPr lang="en-IN" baseline="0" dirty="0">
                          <a:latin typeface="Times New Roman" panose="02020603050405020304" pitchFamily="18" charset="0"/>
                          <a:cs typeface="Times New Roman" panose="02020603050405020304" pitchFamily="18" charset="0"/>
                        </a:rPr>
                        <a:t> or performance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Disadvantage</a:t>
                      </a:r>
                      <a:r>
                        <a:rPr lang="en-US" baseline="0" dirty="0">
                          <a:latin typeface="Times New Roman" panose="02020603050405020304" pitchFamily="18" charset="0"/>
                          <a:cs typeface="Times New Roman" panose="02020603050405020304" pitchFamily="18" charset="0"/>
                        </a:rPr>
                        <a:t> or Future Work</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463834">
                <a:tc>
                  <a:txBody>
                    <a:bodyPr/>
                    <a:lstStyle/>
                    <a:p>
                      <a:pPr algn="l"/>
                      <a:r>
                        <a:rPr lang="en-US" dirty="0">
                          <a:latin typeface="Times New Roman" panose="02020603050405020304" pitchFamily="18" charset="0"/>
                          <a:cs typeface="Times New Roman" panose="02020603050405020304" pitchFamily="18" charset="0"/>
                        </a:rPr>
                        <a:t>Yusen Fan, Feng Zhang and Others: "Indoor Heading Direction Estimation Using RF Signals"</a:t>
                      </a:r>
                    </a:p>
                  </a:txBody>
                  <a:tcPr/>
                </a:tc>
                <a:tc>
                  <a:txBody>
                    <a:bodyPr/>
                    <a:lstStyle/>
                    <a:p>
                      <a:r>
                        <a:rPr lang="en-US" dirty="0">
                          <a:latin typeface="Times New Roman" panose="02020603050405020304" pitchFamily="18" charset="0"/>
                          <a:cs typeface="Times New Roman" panose="02020603050405020304" pitchFamily="18" charset="0"/>
                        </a:rPr>
                        <a:t>IEEE ICASSP 2020, University of Maryland &amp; Origin Wireless Inc.</a:t>
                      </a:r>
                    </a:p>
                  </a:txBody>
                  <a:tcPr/>
                </a:tc>
                <a:tc>
                  <a:txBody>
                    <a:bodyPr/>
                    <a:lstStyle/>
                    <a:p>
                      <a:r>
                        <a:rPr lang="en-US" dirty="0">
                          <a:latin typeface="Times New Roman" panose="02020603050405020304" pitchFamily="18" charset="0"/>
                          <a:cs typeface="Times New Roman" panose="02020603050405020304" pitchFamily="18" charset="0"/>
                        </a:rPr>
                        <a:t>Accurate indoor heading estimation is challenging due to IMU drift and interference, so RF signals from standard Wi-Fi CSI, a 2D octagonal antenna array, and time-reversal (TR) methods are used instead.</a:t>
                      </a:r>
                    </a:p>
                  </a:txBody>
                  <a:tcPr/>
                </a:tc>
                <a:tc>
                  <a:txBody>
                    <a:bodyPr/>
                    <a:lstStyle/>
                    <a:p>
                      <a:r>
                        <a:rPr lang="en-US" dirty="0">
                          <a:latin typeface="Times New Roman" panose="02020603050405020304" pitchFamily="18" charset="0"/>
                          <a:cs typeface="Times New Roman" panose="02020603050405020304" pitchFamily="18" charset="0"/>
                        </a:rPr>
                        <a:t>Prototype with single access point and 2D array achieved median error of 6.9°, better than IMU sensors, especially in NLOS environments, providing high accuracy and low cost.</a:t>
                      </a:r>
                    </a:p>
                  </a:txBody>
                  <a:tcPr/>
                </a:tc>
                <a:tc>
                  <a:txBody>
                    <a:bodyPr/>
                    <a:lstStyle/>
                    <a:p>
                      <a:r>
                        <a:rPr lang="en-US" dirty="0">
                          <a:latin typeface="Times New Roman" panose="02020603050405020304" pitchFamily="18" charset="0"/>
                          <a:cs typeface="Times New Roman" panose="02020603050405020304" pitchFamily="18" charset="0"/>
                        </a:rPr>
                        <a:t>Limited by hardware (half octagon array - 6 antennas). Future work: full array use, extension to more environments, address dynamic layout changes. </a:t>
                      </a:r>
                    </a:p>
                  </a:txBody>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t>8</a:t>
            </a:fld>
            <a:endParaRPr lang="en-US"/>
          </a:p>
        </p:txBody>
      </p:sp>
      <p:pic>
        <p:nvPicPr>
          <p:cNvPr id="6" name="Picture 5" descr="E:\Shiva\VTU-logo.png"/>
          <p:cNvPicPr/>
          <p:nvPr/>
        </p:nvPicPr>
        <p:blipFill>
          <a:blip r:embed="rId2" cstate="print"/>
          <a:srcRect/>
          <a:stretch>
            <a:fillRect/>
          </a:stretch>
        </p:blipFill>
        <p:spPr bwMode="auto">
          <a:xfrm>
            <a:off x="7696200" y="0"/>
            <a:ext cx="1292913" cy="1533525"/>
          </a:xfrm>
          <a:prstGeom prst="rect">
            <a:avLst/>
          </a:prstGeom>
          <a:noFill/>
          <a:ln w="9525">
            <a:noFill/>
            <a:miter lim="800000"/>
            <a:headEnd/>
            <a:tailEnd/>
          </a:ln>
        </p:spPr>
      </p:pic>
      <p:pic>
        <p:nvPicPr>
          <p:cNvPr id="9" name="Picture 8"/>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6931" y="268400"/>
            <a:ext cx="6553200" cy="1143000"/>
          </a:xfrm>
        </p:spPr>
        <p:txBody>
          <a:bodyPr>
            <a:normAutofit fontScale="90000"/>
          </a:bodyPr>
          <a:lstStyle/>
          <a:p>
            <a:r>
              <a:rPr lang="en-US" sz="3600" b="1" dirty="0">
                <a:latin typeface="Times New Roman" panose="02020603050405020304" pitchFamily="18" charset="0"/>
                <a:cs typeface="Times New Roman" panose="02020603050405020304" pitchFamily="18" charset="0"/>
              </a:rPr>
              <a:t>Problem Statement &amp;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Solution strategy</a:t>
            </a:r>
          </a:p>
        </p:txBody>
      </p:sp>
      <p:sp>
        <p:nvSpPr>
          <p:cNvPr id="3" name="Content Placeholder 2"/>
          <p:cNvSpPr>
            <a:spLocks noGrp="1"/>
          </p:cNvSpPr>
          <p:nvPr>
            <p:ph idx="1"/>
          </p:nvPr>
        </p:nvSpPr>
        <p:spPr/>
        <p:txBody>
          <a:bodyPr>
            <a:norm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9</a:t>
            </a:fld>
            <a:endParaRPr lang="en-US"/>
          </a:p>
        </p:txBody>
      </p:sp>
      <p:pic>
        <p:nvPicPr>
          <p:cNvPr id="6" name="Picture 5" descr="E:\Shiva\VTU-logo.png"/>
          <p:cNvPicPr/>
          <p:nvPr/>
        </p:nvPicPr>
        <p:blipFill>
          <a:blip r:embed="rId3"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p:cNvPicPr/>
          <p:nvPr/>
        </p:nvPicPr>
        <p:blipFill>
          <a:blip r:embed="rId4"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
        <p:nvSpPr>
          <p:cNvPr id="7" name="TextBox 6">
            <a:extLst>
              <a:ext uri="{FF2B5EF4-FFF2-40B4-BE49-F238E27FC236}">
                <a16:creationId xmlns:a16="http://schemas.microsoft.com/office/drawing/2014/main" id="{F4F0EACB-72F4-F75C-D515-EFBD5C485146}"/>
              </a:ext>
            </a:extLst>
          </p:cNvPr>
          <p:cNvSpPr txBox="1"/>
          <p:nvPr/>
        </p:nvSpPr>
        <p:spPr>
          <a:xfrm>
            <a:off x="457200" y="1943100"/>
            <a:ext cx="8077200" cy="3816429"/>
          </a:xfrm>
          <a:prstGeom prst="rect">
            <a:avLst/>
          </a:prstGeom>
          <a:noFill/>
        </p:spPr>
        <p:txBody>
          <a:bodyPr wrap="square">
            <a:spAutoFit/>
          </a:bodyPr>
          <a:lstStyle/>
          <a:p>
            <a:pPr marL="457200" indent="-4572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GPS-based location systems often fail indoors due to signal blockages and interferences.</a:t>
            </a:r>
          </a:p>
          <a:p>
            <a:pPr marL="457200" indent="-4572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Existing tracking may be complex or require extensive infrastructure.</a:t>
            </a:r>
          </a:p>
          <a:p>
            <a:pPr marL="457200" indent="-4572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There is a necessity for reliable and simple system that can track and guide the position of objects or people using RF signals.</a:t>
            </a:r>
          </a:p>
          <a:p>
            <a:pPr marL="457200" indent="-4572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should effectively operate in confined or structured areas such as campuses, warehouses, or public spaces.</a:t>
            </a:r>
          </a:p>
          <a:p>
            <a:pPr marL="457200" indent="-4572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project aims to develop a scalable and efficient RF-based geo-location system that ensures accurate real-time tracking and navigation.</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457200" y="1790179"/>
            <a:ext cx="8229600" cy="4525963"/>
          </a:xfrm>
        </p:spPr>
        <p:txBody>
          <a:bodyPr>
            <a:normAutofit/>
          </a:bodyPr>
          <a:lstStyle/>
          <a:p>
            <a:pPr marL="457200" indent="-457200">
              <a:buAutoNum type="arabicPeriod"/>
            </a:pPr>
            <a:r>
              <a:rPr lang="en-US" sz="2600" dirty="0">
                <a:latin typeface="Times New Roman" panose="02020603050405020304" pitchFamily="18" charset="0"/>
                <a:cs typeface="Times New Roman" panose="02020603050405020304" pitchFamily="18" charset="0"/>
              </a:rPr>
              <a:t>To design and develop a geo-location system using RF technology for accurate tracking.</a:t>
            </a:r>
          </a:p>
          <a:p>
            <a:pPr marL="457200" indent="-457200">
              <a:buAutoNum type="arabicPeriod"/>
            </a:pPr>
            <a:r>
              <a:rPr lang="en-US" sz="2600" dirty="0">
                <a:latin typeface="Times New Roman" panose="02020603050405020304" pitchFamily="18" charset="0"/>
                <a:cs typeface="Times New Roman" panose="02020603050405020304" pitchFamily="18" charset="0"/>
              </a:rPr>
              <a:t>To minimize power consumption while maintaining signal strength and communication reliability.</a:t>
            </a:r>
          </a:p>
          <a:p>
            <a:pPr marL="457200" indent="-457200">
              <a:buAutoNum type="arabicPeriod"/>
            </a:pPr>
            <a:r>
              <a:rPr lang="en-US" sz="2600" dirty="0">
                <a:latin typeface="Times New Roman" panose="02020603050405020304" pitchFamily="18" charset="0"/>
                <a:cs typeface="Times New Roman" panose="02020603050405020304" pitchFamily="18" charset="0"/>
              </a:rPr>
              <a:t>To ensure the system performs efficiently in both indoor and outdoor environment.</a:t>
            </a:r>
          </a:p>
          <a:p>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pic>
        <p:nvPicPr>
          <p:cNvPr id="6" name="Picture 5" descr="E:\Shiva\VTU-logo.png"/>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457200" y="1790179"/>
            <a:ext cx="8229600" cy="4525963"/>
          </a:xfrm>
        </p:spPr>
        <p:txBody>
          <a:bodyPr>
            <a:noAutofit/>
          </a:bodyPr>
          <a:lstStyle/>
          <a:p>
            <a:pPr marL="0" indent="0">
              <a:lnSpc>
                <a:spcPct val="150000"/>
              </a:lnSpc>
              <a:buNone/>
            </a:pPr>
            <a:r>
              <a:rPr lang="en-IN" sz="1800" dirty="0">
                <a:latin typeface="Times New Roman" panose="02020603050405020304" pitchFamily="18" charset="0"/>
                <a:cs typeface="Times New Roman" panose="02020603050405020304" pitchFamily="18" charset="0"/>
              </a:rPr>
              <a:t>1. Transmitter Activation </a:t>
            </a:r>
          </a:p>
          <a:p>
            <a:pPr>
              <a:lnSpc>
                <a:spcPct val="150000"/>
              </a:lnSpc>
            </a:pPr>
            <a:r>
              <a:rPr lang="en-IN" sz="1800" dirty="0">
                <a:latin typeface="Times New Roman" panose="02020603050405020304" pitchFamily="18" charset="0"/>
                <a:cs typeface="Times New Roman" panose="02020603050405020304" pitchFamily="18" charset="0"/>
              </a:rPr>
              <a:t>User presses the push button on the RF transmitter. </a:t>
            </a:r>
          </a:p>
          <a:p>
            <a:pPr>
              <a:lnSpc>
                <a:spcPct val="150000"/>
              </a:lnSpc>
            </a:pPr>
            <a:r>
              <a:rPr lang="en-IN" sz="1800" dirty="0">
                <a:latin typeface="Times New Roman" panose="02020603050405020304" pitchFamily="18" charset="0"/>
                <a:cs typeface="Times New Roman" panose="02020603050405020304" pitchFamily="18" charset="0"/>
              </a:rPr>
              <a:t>HT12E encoder generates a coded digital packet for each press. </a:t>
            </a:r>
          </a:p>
          <a:p>
            <a:pPr marL="0" indent="0">
              <a:lnSpc>
                <a:spcPct val="150000"/>
              </a:lnSpc>
              <a:buNone/>
            </a:pPr>
            <a:r>
              <a:rPr lang="en-IN" sz="1800" dirty="0">
                <a:latin typeface="Times New Roman" panose="02020603050405020304" pitchFamily="18" charset="0"/>
                <a:cs typeface="Times New Roman" panose="02020603050405020304" pitchFamily="18" charset="0"/>
              </a:rPr>
              <a:t>2. RF Signal Transmission </a:t>
            </a:r>
          </a:p>
          <a:p>
            <a:pPr>
              <a:lnSpc>
                <a:spcPct val="150000"/>
              </a:lnSpc>
            </a:pPr>
            <a:r>
              <a:rPr lang="en-IN" sz="1800" dirty="0">
                <a:latin typeface="Times New Roman" panose="02020603050405020304" pitchFamily="18" charset="0"/>
                <a:cs typeface="Times New Roman" panose="02020603050405020304" pitchFamily="18" charset="0"/>
              </a:rPr>
              <a:t>433 MHz RF module broadcasts the encoded packet as a wireless pulse.</a:t>
            </a:r>
          </a:p>
          <a:p>
            <a:pPr>
              <a:lnSpc>
                <a:spcPct val="150000"/>
              </a:lnSpc>
            </a:pPr>
            <a:r>
              <a:rPr lang="en-IN" sz="1800" dirty="0">
                <a:latin typeface="Times New Roman" panose="02020603050405020304" pitchFamily="18" charset="0"/>
                <a:cs typeface="Times New Roman" panose="02020603050405020304" pitchFamily="18" charset="0"/>
              </a:rPr>
              <a:t>Each button press = one RF pulse.</a:t>
            </a:r>
          </a:p>
          <a:p>
            <a:pPr marL="0" indent="0">
              <a:lnSpc>
                <a:spcPct val="150000"/>
              </a:lnSpc>
              <a:buNone/>
            </a:pPr>
            <a:r>
              <a:rPr lang="en-IN" sz="1800" dirty="0">
                <a:latin typeface="Times New Roman" panose="02020603050405020304" pitchFamily="18" charset="0"/>
                <a:cs typeface="Times New Roman" panose="02020603050405020304" pitchFamily="18" charset="0"/>
              </a:rPr>
              <a:t>3. Signal Reception </a:t>
            </a:r>
          </a:p>
          <a:p>
            <a:pPr>
              <a:lnSpc>
                <a:spcPct val="150000"/>
              </a:lnSpc>
            </a:pPr>
            <a:r>
              <a:rPr lang="en-IN" sz="1800" dirty="0">
                <a:latin typeface="Times New Roman" panose="02020603050405020304" pitchFamily="18" charset="0"/>
                <a:cs typeface="Times New Roman" panose="02020603050405020304" pitchFamily="18" charset="0"/>
              </a:rPr>
              <a:t>Receiver module captures the RF signal.</a:t>
            </a:r>
          </a:p>
          <a:p>
            <a:pPr>
              <a:lnSpc>
                <a:spcPct val="150000"/>
              </a:lnSpc>
            </a:pPr>
            <a:r>
              <a:rPr lang="en-IN" sz="1800" dirty="0">
                <a:latin typeface="Times New Roman" panose="02020603050405020304" pitchFamily="18" charset="0"/>
                <a:cs typeface="Times New Roman" panose="02020603050405020304" pitchFamily="18" charset="0"/>
              </a:rPr>
              <a:t>HT12D decoder validates the packet and outputs a clean digital pulse on D0.</a:t>
            </a:r>
          </a:p>
          <a:p>
            <a:pPr>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dirty="0"/>
          </a:p>
        </p:txBody>
      </p:sp>
      <p:pic>
        <p:nvPicPr>
          <p:cNvPr id="6" name="Picture 5" descr="E:\Shiva\VTU-logo.png"/>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5AE97-BF64-D7D2-E4B6-40941DADB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02914-2DA5-4F74-8844-4D9BD3CC8373}"/>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E962486C-7CF4-8BD4-EC46-447CF0DEB31C}"/>
              </a:ext>
            </a:extLst>
          </p:cNvPr>
          <p:cNvSpPr>
            <a:spLocks noGrp="1"/>
          </p:cNvSpPr>
          <p:nvPr>
            <p:ph idx="1"/>
          </p:nvPr>
        </p:nvSpPr>
        <p:spPr>
          <a:xfrm>
            <a:off x="265456" y="1800122"/>
            <a:ext cx="8229600" cy="4525963"/>
          </a:xfrm>
        </p:spPr>
        <p:txBody>
          <a:bodyPr>
            <a:noAutofit/>
          </a:bodyPr>
          <a:lstStyle/>
          <a:p>
            <a:pPr marL="0" indent="0">
              <a:lnSpc>
                <a:spcPct val="150000"/>
              </a:lnSpc>
              <a:buNone/>
            </a:pPr>
            <a:r>
              <a:rPr lang="en-IN" sz="1800" dirty="0">
                <a:latin typeface="Times New Roman" panose="02020603050405020304" pitchFamily="18" charset="0"/>
                <a:cs typeface="Times New Roman" panose="02020603050405020304" pitchFamily="18" charset="0"/>
              </a:rPr>
              <a:t>4. Pulse Timing Measurement</a:t>
            </a:r>
          </a:p>
          <a:p>
            <a:pPr>
              <a:lnSpc>
                <a:spcPct val="150000"/>
              </a:lnSpc>
            </a:pPr>
            <a:r>
              <a:rPr lang="en-IN" sz="1800" dirty="0">
                <a:latin typeface="Times New Roman" panose="02020603050405020304" pitchFamily="18" charset="0"/>
                <a:cs typeface="Times New Roman" panose="02020603050405020304" pitchFamily="18" charset="0"/>
              </a:rPr>
              <a:t>AT89S52 microcontroller records the timestamp of the first pulse. </a:t>
            </a:r>
          </a:p>
          <a:p>
            <a:pPr>
              <a:lnSpc>
                <a:spcPct val="150000"/>
              </a:lnSpc>
            </a:pPr>
            <a:r>
              <a:rPr lang="en-IN" sz="1800" dirty="0">
                <a:latin typeface="Times New Roman" panose="02020603050405020304" pitchFamily="18" charset="0"/>
                <a:cs typeface="Times New Roman" panose="02020603050405020304" pitchFamily="18" charset="0"/>
              </a:rPr>
              <a:t>When the second pulse arrives, it records the second timestamp. </a:t>
            </a:r>
          </a:p>
          <a:p>
            <a:pPr>
              <a:lnSpc>
                <a:spcPct val="150000"/>
              </a:lnSpc>
            </a:pPr>
            <a:r>
              <a:rPr lang="en-IN" sz="1800" dirty="0">
                <a:latin typeface="Times New Roman" panose="02020603050405020304" pitchFamily="18" charset="0"/>
                <a:cs typeface="Times New Roman" panose="02020603050405020304" pitchFamily="18" charset="0"/>
              </a:rPr>
              <a:t>Time gap is calculated using:</a:t>
            </a:r>
          </a:p>
          <a:p>
            <a:pPr>
              <a:lnSpc>
                <a:spcPct val="150000"/>
              </a:lnSpc>
            </a:pPr>
            <a:r>
              <a:rPr lang="en-IN" sz="1800" dirty="0">
                <a:latin typeface="Times New Roman" panose="02020603050405020304" pitchFamily="18" charset="0"/>
                <a:cs typeface="Times New Roman" panose="02020603050405020304" pitchFamily="18" charset="0"/>
              </a:rPr>
              <a:t>GAP = Time₂ – Time₁ </a:t>
            </a:r>
          </a:p>
          <a:p>
            <a:pPr marL="0" indent="0">
              <a:lnSpc>
                <a:spcPct val="150000"/>
              </a:lnSpc>
              <a:buNone/>
            </a:pPr>
            <a:r>
              <a:rPr lang="en-IN" sz="1800" dirty="0">
                <a:latin typeface="Times New Roman" panose="02020603050405020304" pitchFamily="18" charset="0"/>
                <a:cs typeface="Times New Roman" panose="02020603050405020304" pitchFamily="18" charset="0"/>
              </a:rPr>
              <a:t>5. Distance Classification </a:t>
            </a:r>
          </a:p>
          <a:p>
            <a:pPr>
              <a:lnSpc>
                <a:spcPct val="150000"/>
              </a:lnSpc>
            </a:pPr>
            <a:r>
              <a:rPr lang="en-IN" sz="1800" dirty="0">
                <a:latin typeface="Times New Roman" panose="02020603050405020304" pitchFamily="18" charset="0"/>
                <a:cs typeface="Times New Roman" panose="02020603050405020304" pitchFamily="18" charset="0"/>
              </a:rPr>
              <a:t>Using the time gap, the system categorizes distance as:</a:t>
            </a:r>
          </a:p>
          <a:p>
            <a:pPr>
              <a:lnSpc>
                <a:spcPct val="150000"/>
              </a:lnSpc>
            </a:pPr>
            <a:r>
              <a:rPr lang="en-IN" sz="1800" dirty="0">
                <a:latin typeface="Times New Roman" panose="02020603050405020304" pitchFamily="18" charset="0"/>
                <a:cs typeface="Times New Roman" panose="02020603050405020304" pitchFamily="18" charset="0"/>
              </a:rPr>
              <a:t> Small gap → NEAR</a:t>
            </a:r>
          </a:p>
          <a:p>
            <a:pPr>
              <a:lnSpc>
                <a:spcPct val="150000"/>
              </a:lnSpc>
            </a:pPr>
            <a:r>
              <a:rPr lang="en-IN" sz="1800" dirty="0">
                <a:latin typeface="Times New Roman" panose="02020603050405020304" pitchFamily="18" charset="0"/>
                <a:cs typeface="Times New Roman" panose="02020603050405020304" pitchFamily="18" charset="0"/>
              </a:rPr>
              <a:t>Medium gap → MID</a:t>
            </a:r>
          </a:p>
          <a:p>
            <a:pPr>
              <a:lnSpc>
                <a:spcPct val="150000"/>
              </a:lnSpc>
            </a:pPr>
            <a:r>
              <a:rPr lang="en-IN" sz="1800" dirty="0">
                <a:latin typeface="Times New Roman" panose="02020603050405020304" pitchFamily="18" charset="0"/>
                <a:cs typeface="Times New Roman" panose="02020603050405020304" pitchFamily="18" charset="0"/>
              </a:rPr>
              <a:t>Large gap → FAR</a:t>
            </a: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8630D59-6A10-D3D1-5BC8-5E8A9E0AC45E}"/>
              </a:ext>
            </a:extLst>
          </p:cNvPr>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6" name="Picture 5" descr="E:\Shiva\VTU-logo.png">
            <a:extLst>
              <a:ext uri="{FF2B5EF4-FFF2-40B4-BE49-F238E27FC236}">
                <a16:creationId xmlns:a16="http://schemas.microsoft.com/office/drawing/2014/main" id="{4C4B9986-8462-0124-71E3-65288D15125F}"/>
              </a:ext>
            </a:extLst>
          </p:cNvPr>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a:extLst>
              <a:ext uri="{FF2B5EF4-FFF2-40B4-BE49-F238E27FC236}">
                <a16:creationId xmlns:a16="http://schemas.microsoft.com/office/drawing/2014/main" id="{A154D472-560A-C3D4-5495-BA6C67CA8B6E}"/>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extLst>
      <p:ext uri="{BB962C8B-B14F-4D97-AF65-F5344CB8AC3E}">
        <p14:creationId xmlns:p14="http://schemas.microsoft.com/office/powerpoint/2010/main" val="69334570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F9D9-438C-D960-EB7E-22B2A1EC4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1933D-646B-23C5-5176-D93D2AF19B57}"/>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447FEEE6-A288-0B12-0F7A-9876AF053623}"/>
              </a:ext>
            </a:extLst>
          </p:cNvPr>
          <p:cNvSpPr>
            <a:spLocks noGrp="1"/>
          </p:cNvSpPr>
          <p:nvPr>
            <p:ph idx="1"/>
          </p:nvPr>
        </p:nvSpPr>
        <p:spPr>
          <a:xfrm>
            <a:off x="201561" y="1682339"/>
            <a:ext cx="8229600" cy="4525963"/>
          </a:xfrm>
        </p:spPr>
        <p:txBody>
          <a:bodyPr>
            <a:noAutofit/>
          </a:bodyPr>
          <a:lstStyle/>
          <a:p>
            <a:pPr marL="0" indent="0">
              <a:lnSpc>
                <a:spcPct val="150000"/>
              </a:lnSpc>
              <a:buNone/>
            </a:pPr>
            <a:r>
              <a:rPr lang="en-IN" sz="1800" dirty="0">
                <a:latin typeface="Times New Roman" panose="02020603050405020304" pitchFamily="18" charset="0"/>
                <a:cs typeface="Times New Roman" panose="02020603050405020304" pitchFamily="18" charset="0"/>
              </a:rPr>
              <a:t>6. Data Processing &amp; Display </a:t>
            </a:r>
          </a:p>
          <a:p>
            <a:pPr>
              <a:lnSpc>
                <a:spcPct val="150000"/>
              </a:lnSpc>
            </a:pPr>
            <a:r>
              <a:rPr lang="en-IN" sz="1800" dirty="0">
                <a:latin typeface="Times New Roman" panose="02020603050405020304" pitchFamily="18" charset="0"/>
                <a:cs typeface="Times New Roman" panose="02020603050405020304" pitchFamily="18" charset="0"/>
              </a:rPr>
              <a:t>Microcontroller computes additional values (optional): </a:t>
            </a:r>
          </a:p>
          <a:p>
            <a:pPr>
              <a:lnSpc>
                <a:spcPct val="150000"/>
              </a:lnSpc>
            </a:pPr>
            <a:r>
              <a:rPr lang="en-IN" sz="1800" dirty="0">
                <a:latin typeface="Times New Roman" panose="02020603050405020304" pitchFamily="18" charset="0"/>
                <a:cs typeface="Times New Roman" panose="02020603050405020304" pitchFamily="18" charset="0"/>
              </a:rPr>
              <a:t>Signal strength (HIGH / MED / LOW) </a:t>
            </a:r>
          </a:p>
          <a:p>
            <a:pPr>
              <a:lnSpc>
                <a:spcPct val="150000"/>
              </a:lnSpc>
            </a:pPr>
            <a:r>
              <a:rPr lang="en-IN" sz="1800" dirty="0">
                <a:latin typeface="Times New Roman" panose="02020603050405020304" pitchFamily="18" charset="0"/>
                <a:cs typeface="Times New Roman" panose="02020603050405020304" pitchFamily="18" charset="0"/>
              </a:rPr>
              <a:t>Approximate distance </a:t>
            </a:r>
          </a:p>
          <a:p>
            <a:pPr>
              <a:lnSpc>
                <a:spcPct val="150000"/>
              </a:lnSpc>
            </a:pPr>
            <a:r>
              <a:rPr lang="en-IN" sz="1800" dirty="0">
                <a:latin typeface="Times New Roman" panose="02020603050405020304" pitchFamily="18" charset="0"/>
                <a:cs typeface="Times New Roman" panose="02020603050405020304" pitchFamily="18" charset="0"/>
              </a:rPr>
              <a:t>Results are shown on the 16×2 LCD display.</a:t>
            </a:r>
          </a:p>
          <a:p>
            <a:pPr marL="0" indent="0">
              <a:lnSpc>
                <a:spcPct val="150000"/>
              </a:lnSpc>
              <a:buNone/>
            </a:pPr>
            <a:r>
              <a:rPr lang="en-IN" sz="1800" dirty="0">
                <a:latin typeface="Times New Roman" panose="02020603050405020304" pitchFamily="18" charset="0"/>
                <a:cs typeface="Times New Roman" panose="02020603050405020304" pitchFamily="18" charset="0"/>
              </a:rPr>
              <a:t>7. System Reset </a:t>
            </a:r>
          </a:p>
          <a:p>
            <a:pPr>
              <a:lnSpc>
                <a:spcPct val="150000"/>
              </a:lnSpc>
            </a:pPr>
            <a:r>
              <a:rPr lang="en-IN" sz="1800" dirty="0">
                <a:latin typeface="Times New Roman" panose="02020603050405020304" pitchFamily="18" charset="0"/>
                <a:cs typeface="Times New Roman" panose="02020603050405020304" pitchFamily="18" charset="0"/>
              </a:rPr>
              <a:t>After displaying results, the system resets automatically. </a:t>
            </a:r>
          </a:p>
          <a:p>
            <a:pPr>
              <a:lnSpc>
                <a:spcPct val="150000"/>
              </a:lnSpc>
            </a:pPr>
            <a:r>
              <a:rPr lang="en-IN" sz="1800" dirty="0">
                <a:latin typeface="Times New Roman" panose="02020603050405020304" pitchFamily="18" charset="0"/>
                <a:cs typeface="Times New Roman" panose="02020603050405020304" pitchFamily="18" charset="0"/>
              </a:rPr>
              <a:t>Waits for next pair of pulses. </a:t>
            </a:r>
          </a:p>
          <a:p>
            <a:pPr marL="0" indent="0">
              <a:lnSpc>
                <a:spcPct val="150000"/>
              </a:lnSpc>
              <a:buNone/>
            </a:pPr>
            <a:r>
              <a:rPr lang="en-IN" sz="1800" dirty="0">
                <a:latin typeface="Times New Roman" panose="02020603050405020304" pitchFamily="18" charset="0"/>
                <a:cs typeface="Times New Roman" panose="02020603050405020304" pitchFamily="18" charset="0"/>
              </a:rPr>
              <a:t>8. Power Management </a:t>
            </a:r>
          </a:p>
          <a:p>
            <a:pPr>
              <a:lnSpc>
                <a:spcPct val="150000"/>
              </a:lnSpc>
            </a:pPr>
            <a:r>
              <a:rPr lang="en-IN" sz="1800" dirty="0">
                <a:latin typeface="Times New Roman" panose="02020603050405020304" pitchFamily="18" charset="0"/>
                <a:cs typeface="Times New Roman" panose="02020603050405020304" pitchFamily="18" charset="0"/>
              </a:rPr>
              <a:t>XIAO-ESP32-C3 provides regulated power supply to all modules for stable operation.</a:t>
            </a:r>
          </a:p>
        </p:txBody>
      </p:sp>
      <p:sp>
        <p:nvSpPr>
          <p:cNvPr id="4" name="Slide Number Placeholder 3">
            <a:extLst>
              <a:ext uri="{FF2B5EF4-FFF2-40B4-BE49-F238E27FC236}">
                <a16:creationId xmlns:a16="http://schemas.microsoft.com/office/drawing/2014/main" id="{290947B3-731D-F8A8-1590-FF9A98A3E605}"/>
              </a:ext>
            </a:extLst>
          </p:cNvPr>
          <p:cNvSpPr>
            <a:spLocks noGrp="1"/>
          </p:cNvSpPr>
          <p:nvPr>
            <p:ph type="sldNum" sz="quarter" idx="12"/>
          </p:nvPr>
        </p:nvSpPr>
        <p:spPr/>
        <p:txBody>
          <a:bodyPr/>
          <a:lstStyle/>
          <a:p>
            <a:fld id="{B6F15528-21DE-4FAA-801E-634DDDAF4B2B}" type="slidenum">
              <a:rPr lang="en-US" smtClean="0"/>
              <a:pPr/>
              <a:t>13</a:t>
            </a:fld>
            <a:endParaRPr lang="en-US" dirty="0"/>
          </a:p>
        </p:txBody>
      </p:sp>
      <p:pic>
        <p:nvPicPr>
          <p:cNvPr id="6" name="Picture 5" descr="E:\Shiva\VTU-logo.png">
            <a:extLst>
              <a:ext uri="{FF2B5EF4-FFF2-40B4-BE49-F238E27FC236}">
                <a16:creationId xmlns:a16="http://schemas.microsoft.com/office/drawing/2014/main" id="{3BBFB847-39FA-28FB-F000-A7932E4D2BAE}"/>
              </a:ext>
            </a:extLst>
          </p:cNvPr>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a:extLst>
              <a:ext uri="{FF2B5EF4-FFF2-40B4-BE49-F238E27FC236}">
                <a16:creationId xmlns:a16="http://schemas.microsoft.com/office/drawing/2014/main" id="{00A1B03B-C5E2-4DF7-42C5-0299AE1EBA59}"/>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extLst>
      <p:ext uri="{BB962C8B-B14F-4D97-AF65-F5344CB8AC3E}">
        <p14:creationId xmlns:p14="http://schemas.microsoft.com/office/powerpoint/2010/main" val="105006203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81C99-D5C8-4375-11C8-804E22674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85B40-E693-631D-F9E5-EED34A3F8867}"/>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Methodology</a:t>
            </a:r>
          </a:p>
        </p:txBody>
      </p:sp>
      <p:pic>
        <p:nvPicPr>
          <p:cNvPr id="7" name="Content Placeholder 6">
            <a:extLst>
              <a:ext uri="{FF2B5EF4-FFF2-40B4-BE49-F238E27FC236}">
                <a16:creationId xmlns:a16="http://schemas.microsoft.com/office/drawing/2014/main" id="{6AE318C7-F2A5-3DF1-2CEB-6990883074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2244194" y="186793"/>
            <a:ext cx="4122213" cy="7086602"/>
          </a:xfrm>
        </p:spPr>
      </p:pic>
      <p:sp>
        <p:nvSpPr>
          <p:cNvPr id="4" name="Slide Number Placeholder 3">
            <a:extLst>
              <a:ext uri="{FF2B5EF4-FFF2-40B4-BE49-F238E27FC236}">
                <a16:creationId xmlns:a16="http://schemas.microsoft.com/office/drawing/2014/main" id="{BE26825B-D410-940A-149E-097D762568F4}"/>
              </a:ext>
            </a:extLst>
          </p:cNvPr>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6" name="Picture 5" descr="E:\Shiva\VTU-logo.png">
            <a:extLst>
              <a:ext uri="{FF2B5EF4-FFF2-40B4-BE49-F238E27FC236}">
                <a16:creationId xmlns:a16="http://schemas.microsoft.com/office/drawing/2014/main" id="{E0874F82-3D70-61E2-DDD7-E7D053EE068C}"/>
              </a:ext>
            </a:extLst>
          </p:cNvPr>
          <p:cNvPicPr/>
          <p:nvPr/>
        </p:nvPicPr>
        <p:blipFill>
          <a:blip r:embed="rId3"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a:extLst>
              <a:ext uri="{FF2B5EF4-FFF2-40B4-BE49-F238E27FC236}">
                <a16:creationId xmlns:a16="http://schemas.microsoft.com/office/drawing/2014/main" id="{C45087F2-BDA3-8CED-D454-01780CFB3EBC}"/>
              </a:ext>
            </a:extLst>
          </p:cNvPr>
          <p:cNvPicPr/>
          <p:nvPr/>
        </p:nvPicPr>
        <p:blipFill>
          <a:blip r:embed="rId4"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
        <p:nvSpPr>
          <p:cNvPr id="3" name="TextBox 2">
            <a:extLst>
              <a:ext uri="{FF2B5EF4-FFF2-40B4-BE49-F238E27FC236}">
                <a16:creationId xmlns:a16="http://schemas.microsoft.com/office/drawing/2014/main" id="{6C5AA06B-095C-9377-B054-A42307130806}"/>
              </a:ext>
            </a:extLst>
          </p:cNvPr>
          <p:cNvSpPr txBox="1"/>
          <p:nvPr/>
        </p:nvSpPr>
        <p:spPr>
          <a:xfrm>
            <a:off x="685800" y="6033184"/>
            <a:ext cx="6477001" cy="646331"/>
          </a:xfrm>
          <a:prstGeom prst="rect">
            <a:avLst/>
          </a:prstGeom>
          <a:noFill/>
        </p:spPr>
        <p:txBody>
          <a:bodyPr wrap="square" rtlCol="0">
            <a:spAutoFit/>
          </a:bodyPr>
          <a:lstStyle/>
          <a:p>
            <a:r>
              <a:rPr lang="en-US" b="1" dirty="0"/>
              <a:t>FIG</a:t>
            </a:r>
            <a:r>
              <a:rPr lang="en-US" dirty="0"/>
              <a:t>-Complete Prototype Setup of RF-Based Distance Indication System</a:t>
            </a:r>
            <a:endParaRPr lang="en-IN" dirty="0"/>
          </a:p>
        </p:txBody>
      </p:sp>
    </p:spTree>
    <p:extLst>
      <p:ext uri="{BB962C8B-B14F-4D97-AF65-F5344CB8AC3E}">
        <p14:creationId xmlns:p14="http://schemas.microsoft.com/office/powerpoint/2010/main" val="101884873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A2F33-DA01-5365-A85A-F4B409CC0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DCDAF-56DA-2A3C-2D2A-F5B447A16F3A}"/>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Methodology</a:t>
            </a:r>
          </a:p>
        </p:txBody>
      </p:sp>
      <p:sp>
        <p:nvSpPr>
          <p:cNvPr id="4" name="Slide Number Placeholder 3">
            <a:extLst>
              <a:ext uri="{FF2B5EF4-FFF2-40B4-BE49-F238E27FC236}">
                <a16:creationId xmlns:a16="http://schemas.microsoft.com/office/drawing/2014/main" id="{82D2556B-529C-1F52-EB5D-DA5C7C0566CA}"/>
              </a:ext>
            </a:extLst>
          </p:cNvPr>
          <p:cNvSpPr>
            <a:spLocks noGrp="1"/>
          </p:cNvSpPr>
          <p:nvPr>
            <p:ph type="sldNum" sz="quarter" idx="12"/>
          </p:nvPr>
        </p:nvSpPr>
        <p:spPr/>
        <p:txBody>
          <a:bodyPr/>
          <a:lstStyle/>
          <a:p>
            <a:fld id="{B6F15528-21DE-4FAA-801E-634DDDAF4B2B}" type="slidenum">
              <a:rPr lang="en-US" smtClean="0"/>
              <a:pPr/>
              <a:t>15</a:t>
            </a:fld>
            <a:endParaRPr lang="en-US" dirty="0"/>
          </a:p>
        </p:txBody>
      </p:sp>
      <p:pic>
        <p:nvPicPr>
          <p:cNvPr id="6" name="Picture 5" descr="E:\Shiva\VTU-logo.png">
            <a:extLst>
              <a:ext uri="{FF2B5EF4-FFF2-40B4-BE49-F238E27FC236}">
                <a16:creationId xmlns:a16="http://schemas.microsoft.com/office/drawing/2014/main" id="{165F4B56-CA9D-83B9-A752-2E764733FA15}"/>
              </a:ext>
            </a:extLst>
          </p:cNvPr>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a:extLst>
              <a:ext uri="{FF2B5EF4-FFF2-40B4-BE49-F238E27FC236}">
                <a16:creationId xmlns:a16="http://schemas.microsoft.com/office/drawing/2014/main" id="{875BF749-E46F-F9D8-5373-FCD45F7C21DA}"/>
              </a:ext>
            </a:extLst>
          </p:cNvPr>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pic>
        <p:nvPicPr>
          <p:cNvPr id="11" name="Picture 10">
            <a:extLst>
              <a:ext uri="{FF2B5EF4-FFF2-40B4-BE49-F238E27FC236}">
                <a16:creationId xmlns:a16="http://schemas.microsoft.com/office/drawing/2014/main" id="{48AC3245-452B-75B7-FC3E-3121523B815E}"/>
              </a:ext>
            </a:extLst>
          </p:cNvPr>
          <p:cNvPicPr>
            <a:picLocks noChangeAspect="1"/>
          </p:cNvPicPr>
          <p:nvPr/>
        </p:nvPicPr>
        <p:blipFill>
          <a:blip r:embed="rId4" cstate="print">
            <a:extLst>
              <a:ext uri="{28A0092B-C50C-407E-A947-70E740481C1C}">
                <a14:useLocalDpi xmlns:a14="http://schemas.microsoft.com/office/drawing/2010/main" val="0"/>
              </a:ext>
            </a:extLst>
          </a:blip>
          <a:srcRect l="8544" b="13134"/>
          <a:stretch>
            <a:fillRect/>
          </a:stretch>
        </p:blipFill>
        <p:spPr>
          <a:xfrm>
            <a:off x="457200" y="1676400"/>
            <a:ext cx="4078010" cy="2814471"/>
          </a:xfrm>
          <a:prstGeom prst="rect">
            <a:avLst/>
          </a:prstGeom>
        </p:spPr>
      </p:pic>
      <p:pic>
        <p:nvPicPr>
          <p:cNvPr id="13" name="Picture 12">
            <a:extLst>
              <a:ext uri="{FF2B5EF4-FFF2-40B4-BE49-F238E27FC236}">
                <a16:creationId xmlns:a16="http://schemas.microsoft.com/office/drawing/2014/main" id="{54A64089-5451-A835-3647-D978994FD2A3}"/>
              </a:ext>
            </a:extLst>
          </p:cNvPr>
          <p:cNvPicPr>
            <a:picLocks noChangeAspect="1"/>
          </p:cNvPicPr>
          <p:nvPr/>
        </p:nvPicPr>
        <p:blipFill>
          <a:blip r:embed="rId5">
            <a:extLst>
              <a:ext uri="{28A0092B-C50C-407E-A947-70E740481C1C}">
                <a14:useLocalDpi xmlns:a14="http://schemas.microsoft.com/office/drawing/2010/main" val="0"/>
              </a:ext>
            </a:extLst>
          </a:blip>
          <a:srcRect l="29269" t="16096" r="24812" b="25108"/>
          <a:stretch>
            <a:fillRect/>
          </a:stretch>
        </p:blipFill>
        <p:spPr>
          <a:xfrm>
            <a:off x="5055711" y="1676400"/>
            <a:ext cx="3358896" cy="2895600"/>
          </a:xfrm>
          <a:prstGeom prst="rect">
            <a:avLst/>
          </a:prstGeom>
        </p:spPr>
      </p:pic>
      <p:sp>
        <p:nvSpPr>
          <p:cNvPr id="3" name="TextBox 2">
            <a:extLst>
              <a:ext uri="{FF2B5EF4-FFF2-40B4-BE49-F238E27FC236}">
                <a16:creationId xmlns:a16="http://schemas.microsoft.com/office/drawing/2014/main" id="{DE6B8067-CCD4-05C2-570E-DD9DD1C5C54C}"/>
              </a:ext>
            </a:extLst>
          </p:cNvPr>
          <p:cNvSpPr txBox="1"/>
          <p:nvPr/>
        </p:nvSpPr>
        <p:spPr>
          <a:xfrm>
            <a:off x="914400" y="5334000"/>
            <a:ext cx="3429000" cy="369332"/>
          </a:xfrm>
          <a:prstGeom prst="rect">
            <a:avLst/>
          </a:prstGeom>
          <a:noFill/>
        </p:spPr>
        <p:txBody>
          <a:bodyPr wrap="square" rtlCol="0">
            <a:spAutoFit/>
          </a:bodyPr>
          <a:lstStyle/>
          <a:p>
            <a:r>
              <a:rPr lang="en-US" b="1" dirty="0" err="1"/>
              <a:t>FIG.a</a:t>
            </a:r>
            <a:r>
              <a:rPr lang="en-US" dirty="0"/>
              <a:t>-Receiver Hardware Assembly</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ABF42CC-82AC-B379-C350-B0DADA732097}"/>
              </a:ext>
            </a:extLst>
          </p:cNvPr>
          <p:cNvSpPr txBox="1"/>
          <p:nvPr/>
        </p:nvSpPr>
        <p:spPr>
          <a:xfrm>
            <a:off x="4800602" y="5181600"/>
            <a:ext cx="3886197" cy="369332"/>
          </a:xfrm>
          <a:prstGeom prst="rect">
            <a:avLst/>
          </a:prstGeom>
          <a:noFill/>
        </p:spPr>
        <p:txBody>
          <a:bodyPr wrap="square" rtlCol="0">
            <a:spAutoFit/>
          </a:bodyPr>
          <a:lstStyle/>
          <a:p>
            <a:r>
              <a:rPr lang="en-US" b="1" dirty="0" err="1"/>
              <a:t>FIG.b</a:t>
            </a:r>
            <a:r>
              <a:rPr lang="en-US" b="1" dirty="0"/>
              <a:t>-</a:t>
            </a:r>
            <a:r>
              <a:rPr lang="en-US" dirty="0"/>
              <a:t> Transmitter Hardware Assembly</a:t>
            </a:r>
            <a:endParaRPr lang="en-IN" b="1" dirty="0"/>
          </a:p>
        </p:txBody>
      </p:sp>
    </p:spTree>
    <p:extLst>
      <p:ext uri="{BB962C8B-B14F-4D97-AF65-F5344CB8AC3E}">
        <p14:creationId xmlns:p14="http://schemas.microsoft.com/office/powerpoint/2010/main" val="113304771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568" y="-304800"/>
            <a:ext cx="8229600" cy="1143000"/>
          </a:xfrm>
        </p:spPr>
        <p:txBody>
          <a:bodyPr/>
          <a:lstStyle/>
          <a:p>
            <a:r>
              <a:rPr lang="en-US" b="1" dirty="0">
                <a:latin typeface="Times New Roman" pitchFamily="18" charset="0"/>
                <a:cs typeface="Times New Roman" pitchFamily="18" charset="0"/>
              </a:rPr>
              <a:t>Flowchart of the Program</a:t>
            </a:r>
          </a:p>
        </p:txBody>
      </p:sp>
      <p:sp>
        <p:nvSpPr>
          <p:cNvPr id="3" name="Content Placeholder 2"/>
          <p:cNvSpPr>
            <a:spLocks noGrp="1"/>
          </p:cNvSpPr>
          <p:nvPr>
            <p:ph idx="1"/>
          </p:nvPr>
        </p:nvSpPr>
        <p:spPr>
          <a:xfrm>
            <a:off x="304800" y="543232"/>
            <a:ext cx="8229600" cy="6324600"/>
          </a:xfrm>
          <a:ln>
            <a:solidFill>
              <a:schemeClr val="bg1"/>
            </a:solidFill>
          </a:ln>
        </p:spPr>
        <p:txBody>
          <a:bodyPr>
            <a:noAutofit/>
          </a:bodyPr>
          <a:lstStyle/>
          <a:p>
            <a:pPr marL="0" indent="0" algn="ctr">
              <a:buNone/>
            </a:pPr>
            <a:r>
              <a:rPr lang="en-US" sz="1500" dirty="0">
                <a:latin typeface="Times New Roman" panose="02020603050405020304" pitchFamily="18" charset="0"/>
                <a:cs typeface="Times New Roman" panose="02020603050405020304" pitchFamily="18" charset="0"/>
              </a:rPr>
              <a:t>START</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Initialize LCD, Serial, I2C</a:t>
            </a:r>
          </a:p>
          <a:p>
            <a:pPr marL="0" indent="0" algn="ctr">
              <a:buNone/>
            </a:pPr>
            <a:r>
              <a:rPr lang="en-US" sz="1500" dirty="0">
                <a:latin typeface="Times New Roman" panose="02020603050405020304" pitchFamily="18" charset="0"/>
                <a:cs typeface="Times New Roman" panose="02020603050405020304" pitchFamily="18" charset="0"/>
              </a:rPr>
              <a:t> Set RF Input Pin + Interrupt</a:t>
            </a:r>
          </a:p>
          <a:p>
            <a:pPr marL="0" indent="0" algn="ctr">
              <a:buNone/>
            </a:pPr>
            <a:r>
              <a:rPr lang="en-US" sz="1500" dirty="0">
                <a:latin typeface="Times New Roman" panose="02020603050405020304" pitchFamily="18" charset="0"/>
                <a:cs typeface="Times New Roman" panose="02020603050405020304" pitchFamily="18" charset="0"/>
              </a:rPr>
              <a:t> Display "WAITING FOR SIGNALS"</a:t>
            </a:r>
          </a:p>
          <a:p>
            <a:pPr marL="0" indent="0" algn="ctr">
              <a:buNone/>
            </a:pPr>
            <a:r>
              <a:rPr lang="en-US" sz="1500" dirty="0">
                <a:latin typeface="Times New Roman" panose="02020603050405020304" pitchFamily="18" charset="0"/>
                <a:cs typeface="Times New Roman" panose="02020603050405020304" pitchFamily="18" charset="0"/>
              </a:rPr>
              <a:t>↓</a:t>
            </a:r>
          </a:p>
          <a:p>
            <a:pPr marL="0" indent="0" algn="ctr">
              <a:buNone/>
            </a:pPr>
            <a:r>
              <a:rPr lang="en-US" sz="1500" dirty="0">
                <a:latin typeface="Times New Roman" panose="02020603050405020304" pitchFamily="18" charset="0"/>
                <a:cs typeface="Times New Roman" panose="02020603050405020304" pitchFamily="18" charset="0"/>
              </a:rPr>
              <a:t> LOOP</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Check if a pulse timestamp arrived?</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(If yes) Process pulse:</a:t>
            </a:r>
          </a:p>
          <a:p>
            <a:pPr marL="0" indent="0" algn="ctr">
              <a:buNone/>
            </a:pPr>
            <a:r>
              <a:rPr lang="en-US" sz="1500" dirty="0">
                <a:latin typeface="Times New Roman" panose="02020603050405020304" pitchFamily="18" charset="0"/>
                <a:cs typeface="Times New Roman" panose="02020603050405020304" pitchFamily="18" charset="0"/>
              </a:rPr>
              <a:t>       - First pulse → store t1, show "P1 OK"</a:t>
            </a:r>
          </a:p>
          <a:p>
            <a:pPr marL="0" indent="0" algn="ctr">
              <a:buNone/>
            </a:pPr>
            <a:r>
              <a:rPr lang="en-US" sz="1500" dirty="0">
                <a:latin typeface="Times New Roman" panose="02020603050405020304" pitchFamily="18" charset="0"/>
                <a:cs typeface="Times New Roman" panose="02020603050405020304" pitchFamily="18" charset="0"/>
              </a:rPr>
              <a:t>       - Second pulse → store t2, show "P2 OK"</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If both pulses received :gap = t2 - t1</a:t>
            </a:r>
          </a:p>
          <a:p>
            <a:pPr marL="0" indent="0" algn="ctr">
              <a:buNone/>
            </a:pPr>
            <a:r>
              <a:rPr lang="en-US" sz="1500" dirty="0">
                <a:latin typeface="Times New Roman" panose="02020603050405020304" pitchFamily="18" charset="0"/>
                <a:cs typeface="Times New Roman" panose="02020603050405020304" pitchFamily="18" charset="0"/>
              </a:rPr>
              <a:t>   Map gap → NEAR / MID / FAR</a:t>
            </a:r>
          </a:p>
          <a:p>
            <a:pPr marL="0" indent="0" algn="ctr">
              <a:buNone/>
            </a:pPr>
            <a:r>
              <a:rPr lang="en-US" sz="1500" dirty="0">
                <a:latin typeface="Times New Roman" panose="02020603050405020304" pitchFamily="18" charset="0"/>
                <a:cs typeface="Times New Roman" panose="02020603050405020304" pitchFamily="18" charset="0"/>
              </a:rPr>
              <a:t>   Display result on LCD</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Wait 2.5 seconds</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Reset system → Display "WAITING FOR SIGNALS"</a:t>
            </a:r>
          </a:p>
          <a:p>
            <a:pPr marL="0" indent="0" algn="ctr">
              <a:buNone/>
            </a:pPr>
            <a:r>
              <a:rPr lang="en-US" sz="1500" dirty="0">
                <a:latin typeface="Times New Roman" panose="02020603050405020304" pitchFamily="18" charset="0"/>
                <a:cs typeface="Times New Roman" panose="02020603050405020304" pitchFamily="18" charset="0"/>
              </a:rPr>
              <a:t>     ↓</a:t>
            </a:r>
          </a:p>
          <a:p>
            <a:pPr marL="0" indent="0" algn="ctr">
              <a:buNone/>
            </a:pPr>
            <a:r>
              <a:rPr lang="en-US" sz="1500" dirty="0">
                <a:latin typeface="Times New Roman" panose="02020603050405020304" pitchFamily="18" charset="0"/>
                <a:cs typeface="Times New Roman" panose="02020603050405020304" pitchFamily="18" charset="0"/>
              </a:rPr>
              <a:t>           Repeat LOOP</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itchFamily="18" charset="0"/>
                <a:cs typeface="Times New Roman" pitchFamily="18" charset="0"/>
              </a:rPr>
              <a:t>Result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62500" lnSpcReduction="20000"/>
          </a:bodyPr>
          <a:lstStyle/>
          <a:p>
            <a:r>
              <a:rPr lang="en-US" dirty="0">
                <a:latin typeface="Times New Roman" panose="02020603050405020304" pitchFamily="18" charset="0"/>
                <a:cs typeface="Times New Roman" panose="02020603050405020304" pitchFamily="18" charset="0"/>
              </a:rPr>
              <a:t>The system successfully classified distance into NEAR, MID, and FAR by measuring the timing gap (ΔT) between two RF pulses.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AT89S52 microcontroller accurately captured timestamps and computed ΔT with consistent performance.</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16×2 I²C LCD displayed distance classification and timing results clearly during all tests.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system worked reliably in different indoor environments, showing stable and repeatable results even with moderate noise and obstacles.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timing-based method proved more reliable than RSSI-based approaches, confirming that the project offers a robust and practical short-range RF distance indication solution.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E2E2-E243-6DDA-89FA-F5188B0F7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F16F3-5ED0-5CE9-08E1-1A7368FFCBF0}"/>
              </a:ext>
            </a:extLst>
          </p:cNvPr>
          <p:cNvSpPr>
            <a:spLocks noGrp="1"/>
          </p:cNvSpPr>
          <p:nvPr>
            <p:ph type="title"/>
          </p:nvPr>
        </p:nvSpPr>
        <p:spPr/>
        <p:txBody>
          <a:bodyPr/>
          <a:lstStyle/>
          <a:p>
            <a:r>
              <a:rPr lang="en-US" sz="3600" b="1" dirty="0">
                <a:latin typeface="Times New Roman" pitchFamily="18" charset="0"/>
                <a:cs typeface="Times New Roman" pitchFamily="18" charset="0"/>
              </a:rPr>
              <a:t>Result</a:t>
            </a:r>
            <a:endParaRPr lang="en-US"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6DB4EC29-71E2-ECAE-6136-4624732BE792}"/>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6" name="Picture 5">
            <a:extLst>
              <a:ext uri="{FF2B5EF4-FFF2-40B4-BE49-F238E27FC236}">
                <a16:creationId xmlns:a16="http://schemas.microsoft.com/office/drawing/2014/main" id="{BB6F4022-D068-03CD-B5E4-7AA3075D3C74}"/>
              </a:ext>
            </a:extLst>
          </p:cNvPr>
          <p:cNvPicPr>
            <a:picLocks noChangeAspect="1"/>
          </p:cNvPicPr>
          <p:nvPr/>
        </p:nvPicPr>
        <p:blipFill>
          <a:blip r:embed="rId2">
            <a:extLst>
              <a:ext uri="{28A0092B-C50C-407E-A947-70E740481C1C}">
                <a14:useLocalDpi xmlns:a14="http://schemas.microsoft.com/office/drawing/2010/main" val="0"/>
              </a:ext>
            </a:extLst>
          </a:blip>
          <a:srcRect r="5446" b="26445"/>
          <a:stretch>
            <a:fillRect/>
          </a:stretch>
        </p:blipFill>
        <p:spPr>
          <a:xfrm>
            <a:off x="76201" y="1390599"/>
            <a:ext cx="4876800" cy="2648001"/>
          </a:xfrm>
          <a:prstGeom prst="rect">
            <a:avLst/>
          </a:prstGeom>
        </p:spPr>
      </p:pic>
      <p:pic>
        <p:nvPicPr>
          <p:cNvPr id="8" name="Picture 7">
            <a:extLst>
              <a:ext uri="{FF2B5EF4-FFF2-40B4-BE49-F238E27FC236}">
                <a16:creationId xmlns:a16="http://schemas.microsoft.com/office/drawing/2014/main" id="{7E189A32-9B92-2B77-94D7-7DC88DD32CC7}"/>
              </a:ext>
            </a:extLst>
          </p:cNvPr>
          <p:cNvPicPr>
            <a:picLocks noChangeAspect="1"/>
          </p:cNvPicPr>
          <p:nvPr/>
        </p:nvPicPr>
        <p:blipFill>
          <a:blip r:embed="rId3">
            <a:extLst>
              <a:ext uri="{28A0092B-C50C-407E-A947-70E740481C1C}">
                <a14:useLocalDpi xmlns:a14="http://schemas.microsoft.com/office/drawing/2010/main" val="0"/>
              </a:ext>
            </a:extLst>
          </a:blip>
          <a:srcRect l="19243" b="4750"/>
          <a:stretch>
            <a:fillRect/>
          </a:stretch>
        </p:blipFill>
        <p:spPr>
          <a:xfrm>
            <a:off x="5001348" y="1066800"/>
            <a:ext cx="4157400" cy="3429000"/>
          </a:xfrm>
          <a:prstGeom prst="rect">
            <a:avLst/>
          </a:prstGeom>
        </p:spPr>
      </p:pic>
      <p:sp>
        <p:nvSpPr>
          <p:cNvPr id="3" name="TextBox 2">
            <a:extLst>
              <a:ext uri="{FF2B5EF4-FFF2-40B4-BE49-F238E27FC236}">
                <a16:creationId xmlns:a16="http://schemas.microsoft.com/office/drawing/2014/main" id="{A155612C-298B-719C-4DD5-7555B46D5793}"/>
              </a:ext>
            </a:extLst>
          </p:cNvPr>
          <p:cNvSpPr txBox="1"/>
          <p:nvPr/>
        </p:nvSpPr>
        <p:spPr>
          <a:xfrm>
            <a:off x="152400" y="5029200"/>
            <a:ext cx="4800601" cy="646331"/>
          </a:xfrm>
          <a:prstGeom prst="rect">
            <a:avLst/>
          </a:prstGeom>
          <a:noFill/>
        </p:spPr>
        <p:txBody>
          <a:bodyPr wrap="square" rtlCol="0">
            <a:spAutoFit/>
          </a:bodyPr>
          <a:lstStyle/>
          <a:p>
            <a:r>
              <a:rPr lang="en-US" b="1" dirty="0" err="1"/>
              <a:t>FIG.a</a:t>
            </a:r>
            <a:r>
              <a:rPr lang="en-US" dirty="0"/>
              <a:t>-LCD Output Showing NEAR Distance Classification</a:t>
            </a:r>
            <a:endParaRPr lang="en-IN" dirty="0"/>
          </a:p>
        </p:txBody>
      </p:sp>
      <p:sp>
        <p:nvSpPr>
          <p:cNvPr id="5" name="TextBox 4">
            <a:extLst>
              <a:ext uri="{FF2B5EF4-FFF2-40B4-BE49-F238E27FC236}">
                <a16:creationId xmlns:a16="http://schemas.microsoft.com/office/drawing/2014/main" id="{3C2A0985-29B3-4AFB-641F-EB832FC2BB51}"/>
              </a:ext>
            </a:extLst>
          </p:cNvPr>
          <p:cNvSpPr txBox="1"/>
          <p:nvPr/>
        </p:nvSpPr>
        <p:spPr>
          <a:xfrm>
            <a:off x="5001348" y="5029200"/>
            <a:ext cx="3990252" cy="646331"/>
          </a:xfrm>
          <a:prstGeom prst="rect">
            <a:avLst/>
          </a:prstGeom>
          <a:noFill/>
        </p:spPr>
        <p:txBody>
          <a:bodyPr wrap="square" rtlCol="0">
            <a:spAutoFit/>
          </a:bodyPr>
          <a:lstStyle/>
          <a:p>
            <a:r>
              <a:rPr lang="en-US" b="1" dirty="0" err="1"/>
              <a:t>FIG.b</a:t>
            </a:r>
            <a:r>
              <a:rPr lang="en-US" b="1" dirty="0"/>
              <a:t>-</a:t>
            </a:r>
            <a:r>
              <a:rPr lang="en-US" dirty="0"/>
              <a:t>LCD Output Showing MID Distance Classification</a:t>
            </a:r>
            <a:endParaRPr lang="en-IN" b="1" dirty="0"/>
          </a:p>
        </p:txBody>
      </p:sp>
    </p:spTree>
    <p:extLst>
      <p:ext uri="{BB962C8B-B14F-4D97-AF65-F5344CB8AC3E}">
        <p14:creationId xmlns:p14="http://schemas.microsoft.com/office/powerpoint/2010/main" val="155641220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66AD2-524C-01C6-13A5-D3BEE8165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77C69-FE25-CBB0-E27F-DC40C3DA6C4E}"/>
              </a:ext>
            </a:extLst>
          </p:cNvPr>
          <p:cNvSpPr>
            <a:spLocks noGrp="1"/>
          </p:cNvSpPr>
          <p:nvPr>
            <p:ph type="title"/>
          </p:nvPr>
        </p:nvSpPr>
        <p:spPr/>
        <p:txBody>
          <a:bodyPr/>
          <a:lstStyle/>
          <a:p>
            <a:r>
              <a:rPr lang="en-US" sz="3600" b="1" dirty="0">
                <a:latin typeface="Times New Roman" pitchFamily="18" charset="0"/>
                <a:cs typeface="Times New Roman" pitchFamily="18" charset="0"/>
              </a:rPr>
              <a:t>Result</a:t>
            </a:r>
            <a:endParaRPr lang="en-US"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5C6DDC69-ABBF-1C42-BA5D-1DB978997EB6}"/>
              </a:ext>
            </a:extLst>
          </p:cNvPr>
          <p:cNvSpPr>
            <a:spLocks noGrp="1"/>
          </p:cNvSpPr>
          <p:nvPr>
            <p:ph type="sldNum" sz="quarter" idx="12"/>
          </p:nvPr>
        </p:nvSpPr>
        <p:spPr/>
        <p:txBody>
          <a:bodyPr/>
          <a:lstStyle/>
          <a:p>
            <a:fld id="{B6F15528-21DE-4FAA-801E-634DDDAF4B2B}" type="slidenum">
              <a:rPr lang="en-US" smtClean="0"/>
              <a:pPr/>
              <a:t>19</a:t>
            </a:fld>
            <a:endParaRPr lang="en-US"/>
          </a:p>
        </p:txBody>
      </p:sp>
      <p:pic>
        <p:nvPicPr>
          <p:cNvPr id="10" name="Picture 9">
            <a:extLst>
              <a:ext uri="{FF2B5EF4-FFF2-40B4-BE49-F238E27FC236}">
                <a16:creationId xmlns:a16="http://schemas.microsoft.com/office/drawing/2014/main" id="{EF74579A-AF10-3130-B65A-B25E1E2D88BF}"/>
              </a:ext>
            </a:extLst>
          </p:cNvPr>
          <p:cNvPicPr>
            <a:picLocks noChangeAspect="1"/>
          </p:cNvPicPr>
          <p:nvPr/>
        </p:nvPicPr>
        <p:blipFill>
          <a:blip r:embed="rId2">
            <a:extLst>
              <a:ext uri="{28A0092B-C50C-407E-A947-70E740481C1C}">
                <a14:useLocalDpi xmlns:a14="http://schemas.microsoft.com/office/drawing/2010/main" val="0"/>
              </a:ext>
            </a:extLst>
          </a:blip>
          <a:srcRect l="1229" t="8127" r="1" b="-2097"/>
          <a:stretch>
            <a:fillRect/>
          </a:stretch>
        </p:blipFill>
        <p:spPr>
          <a:xfrm>
            <a:off x="457200" y="1417638"/>
            <a:ext cx="4934465" cy="3382962"/>
          </a:xfrm>
          <a:prstGeom prst="rect">
            <a:avLst/>
          </a:prstGeom>
        </p:spPr>
      </p:pic>
      <p:sp>
        <p:nvSpPr>
          <p:cNvPr id="3" name="TextBox 2">
            <a:extLst>
              <a:ext uri="{FF2B5EF4-FFF2-40B4-BE49-F238E27FC236}">
                <a16:creationId xmlns:a16="http://schemas.microsoft.com/office/drawing/2014/main" id="{A553D525-0730-7EAE-EFBB-330BA12815D9}"/>
              </a:ext>
            </a:extLst>
          </p:cNvPr>
          <p:cNvSpPr txBox="1"/>
          <p:nvPr/>
        </p:nvSpPr>
        <p:spPr>
          <a:xfrm>
            <a:off x="457200" y="5257800"/>
            <a:ext cx="5791200" cy="369332"/>
          </a:xfrm>
          <a:prstGeom prst="rect">
            <a:avLst/>
          </a:prstGeom>
          <a:noFill/>
        </p:spPr>
        <p:txBody>
          <a:bodyPr wrap="square" rtlCol="0">
            <a:spAutoFit/>
          </a:bodyPr>
          <a:lstStyle/>
          <a:p>
            <a:r>
              <a:rPr lang="en-US" b="1"/>
              <a:t>FIG.c-</a:t>
            </a:r>
            <a:r>
              <a:rPr lang="en-US"/>
              <a:t>LCD </a:t>
            </a:r>
            <a:r>
              <a:rPr lang="en-US" dirty="0"/>
              <a:t>Output Showing FAR Distance Classification</a:t>
            </a:r>
            <a:endParaRPr lang="en-IN" b="1" dirty="0"/>
          </a:p>
        </p:txBody>
      </p:sp>
    </p:spTree>
    <p:extLst>
      <p:ext uri="{BB962C8B-B14F-4D97-AF65-F5344CB8AC3E}">
        <p14:creationId xmlns:p14="http://schemas.microsoft.com/office/powerpoint/2010/main" val="60470119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itchFamily="18" charset="0"/>
                <a:cs typeface="Times New Roman" pitchFamily="18" charset="0"/>
              </a:rPr>
              <a:t>Conclusion </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The project successfully provided a simple, low-cost, and GPS-independent method for short-range distance indication using RF communication.</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By measuring the timing difference (ΔT) between two RF pulses, the system accurately classified distance into NEAR, MID, and FAR.</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combination of HT12E/HT12D encoder–decoder and AT89S52 microcontroller proved effective for reliable proximity estimation in indoor environments.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system performed consistently even in moderate noise and obstacles, with the LCD giving clear and stable output.</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ESP32-C3 power module ensured smooth, uninterrupted operation, enabling the project to fully achieve its intended objectives.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546584"/>
            <a:ext cx="8229600" cy="4525963"/>
          </a:xfrm>
        </p:spPr>
        <p:txBody>
          <a:bodyPr>
            <a:noAutofit/>
          </a:bodyPr>
          <a:lstStyle/>
          <a:p>
            <a:pPr marL="0" indent="0">
              <a:lnSpc>
                <a:spcPct val="150000"/>
              </a:lnSpc>
              <a:buNone/>
            </a:pPr>
            <a:r>
              <a:rPr lang="en-US" sz="1600" dirty="0">
                <a:latin typeface="Times New Roman" pitchFamily="18" charset="0"/>
                <a:cs typeface="Times New Roman" pitchFamily="18" charset="0"/>
              </a:rPr>
              <a:t>| IoT-based Child Tracking Using RFID and GPS | Nadia Ahmed, Sadik Kamel </a:t>
            </a:r>
            <a:r>
              <a:rPr lang="en-US" sz="1600" dirty="0" err="1">
                <a:latin typeface="Times New Roman" pitchFamily="18" charset="0"/>
                <a:cs typeface="Times New Roman" pitchFamily="18" charset="0"/>
              </a:rPr>
              <a:t>Gharghan</a:t>
            </a:r>
            <a:r>
              <a:rPr lang="en-US" sz="1600" dirty="0">
                <a:latin typeface="Times New Roman" pitchFamily="18" charset="0"/>
                <a:cs typeface="Times New Roman" pitchFamily="18" charset="0"/>
              </a:rPr>
              <a:t>, Ammar Hussein Mutlag | International Journal of Computers and Applications, Taylor &amp; Francis, DOI: [10.1080/1206212X.2023.2215077] (</a:t>
            </a:r>
            <a:r>
              <a:rPr lang="en-US" sz="1600" dirty="0">
                <a:latin typeface="Times New Roman" pitchFamily="18" charset="0"/>
                <a:cs typeface="Times New Roman" pitchFamily="18" charset="0"/>
                <a:hlinkClick r:id="rId2"/>
              </a:rPr>
              <a:t>https://doi.org/10.1080/1206212X.2023.2215077</a:t>
            </a:r>
            <a:r>
              <a:rPr lang="en-US" sz="1600" dirty="0">
                <a:latin typeface="Times New Roman" pitchFamily="18" charset="0"/>
                <a:cs typeface="Times New Roman" pitchFamily="18" charset="0"/>
              </a:rPr>
              <a:t> ), Published online 22 May 2023 [1] |</a:t>
            </a:r>
          </a:p>
          <a:p>
            <a:pPr marL="0" indent="0">
              <a:lnSpc>
                <a:spcPct val="150000"/>
              </a:lnSpc>
              <a:buNone/>
            </a:pPr>
            <a:r>
              <a:rPr lang="en-US" sz="1600" dirty="0">
                <a:latin typeface="Times New Roman" pitchFamily="18" charset="0"/>
                <a:cs typeface="Times New Roman" pitchFamily="18" charset="0"/>
              </a:rPr>
              <a:t>| Prototype Development of Hand Wearable RF Locator with Smart Walking Aid for the Blind | </a:t>
            </a:r>
            <a:r>
              <a:rPr lang="en-US" sz="1600" dirty="0" err="1">
                <a:latin typeface="Times New Roman" pitchFamily="18" charset="0"/>
                <a:cs typeface="Times New Roman" pitchFamily="18" charset="0"/>
              </a:rPr>
              <a:t>Ezeofor</a:t>
            </a:r>
            <a:r>
              <a:rPr lang="en-US" sz="1600" dirty="0">
                <a:latin typeface="Times New Roman" pitchFamily="18" charset="0"/>
                <a:cs typeface="Times New Roman" pitchFamily="18" charset="0"/>
              </a:rPr>
              <a:t> C. Joseph, </a:t>
            </a:r>
            <a:r>
              <a:rPr lang="en-US" sz="1600" dirty="0" err="1">
                <a:latin typeface="Times New Roman" pitchFamily="18" charset="0"/>
                <a:cs typeface="Times New Roman" pitchFamily="18" charset="0"/>
              </a:rPr>
              <a:t>Egbuaba</a:t>
            </a:r>
            <a:r>
              <a:rPr lang="en-US" sz="1600" dirty="0">
                <a:latin typeface="Times New Roman" pitchFamily="18" charset="0"/>
                <a:cs typeface="Times New Roman" pitchFamily="18" charset="0"/>
              </a:rPr>
              <a:t> C. Chigozie, Jonah I. Uche | Indian Journal of Engineering, 2022, Vol. 19(51), pp. 173–183. Published by Discovery Scientific Society. Link: [http://creativecommons.org/licenses/by/4.0](</a:t>
            </a:r>
            <a:r>
              <a:rPr lang="en-US" sz="1600" dirty="0">
                <a:latin typeface="Times New Roman" pitchFamily="18" charset="0"/>
                <a:cs typeface="Times New Roman" pitchFamily="18" charset="0"/>
                <a:hlinkClick r:id="rId3"/>
              </a:rPr>
              <a:t>http://creativecommons.org/licenses/by/4.0</a:t>
            </a:r>
            <a:r>
              <a:rPr lang="en-US" sz="1600" dirty="0">
                <a:latin typeface="Times New Roman" pitchFamily="18" charset="0"/>
                <a:cs typeface="Times New Roman" pitchFamily="18" charset="0"/>
              </a:rPr>
              <a:t> ) [2] |</a:t>
            </a:r>
          </a:p>
          <a:p>
            <a:pPr marL="0" indent="0">
              <a:lnSpc>
                <a:spcPct val="150000"/>
              </a:lnSpc>
              <a:buNone/>
            </a:pPr>
            <a:r>
              <a:rPr lang="en-US" sz="1600" dirty="0">
                <a:latin typeface="Times New Roman" pitchFamily="18" charset="0"/>
                <a:cs typeface="Times New Roman" pitchFamily="18" charset="0"/>
              </a:rPr>
              <a:t>| Design of an Obstacle and Location-Based Detector with Microcontroller System | Adedotun O. </a:t>
            </a:r>
            <a:r>
              <a:rPr lang="en-US" sz="1600" dirty="0" err="1">
                <a:latin typeface="Times New Roman" pitchFamily="18" charset="0"/>
                <a:cs typeface="Times New Roman" pitchFamily="18" charset="0"/>
              </a:rPr>
              <a:t>Owojori</a:t>
            </a:r>
            <a:r>
              <a:rPr lang="en-US" sz="1600" dirty="0">
                <a:latin typeface="Times New Roman" pitchFamily="18" charset="0"/>
                <a:cs typeface="Times New Roman" pitchFamily="18" charset="0"/>
              </a:rPr>
              <a:t>, Jane O. O. </a:t>
            </a:r>
            <a:r>
              <a:rPr lang="en-US" sz="1600" dirty="0" err="1">
                <a:latin typeface="Times New Roman" pitchFamily="18" charset="0"/>
                <a:cs typeface="Times New Roman" pitchFamily="18" charset="0"/>
              </a:rPr>
              <a:t>Mebawondu</a:t>
            </a:r>
            <a:r>
              <a:rPr lang="en-US" sz="1600" dirty="0">
                <a:latin typeface="Times New Roman" pitchFamily="18" charset="0"/>
                <a:cs typeface="Times New Roman" pitchFamily="18" charset="0"/>
              </a:rPr>
              <a:t>, Jacob O. </a:t>
            </a:r>
            <a:r>
              <a:rPr lang="en-US" sz="1600" dirty="0" err="1">
                <a:latin typeface="Times New Roman" pitchFamily="18" charset="0"/>
                <a:cs typeface="Times New Roman" pitchFamily="18" charset="0"/>
              </a:rPr>
              <a:t>Mebawondu</a:t>
            </a:r>
            <a:r>
              <a:rPr lang="en-US" sz="1600" dirty="0">
                <a:latin typeface="Times New Roman" pitchFamily="18" charset="0"/>
                <a:cs typeface="Times New Roman" pitchFamily="18" charset="0"/>
              </a:rPr>
              <a:t> | European Journal of Electrical Engineering and Computer Science (EJECE), Vol. 5, Issue 2, April 2021. DOI: [10.24018/ejece.2021.5.2.318](</a:t>
            </a:r>
            <a:r>
              <a:rPr lang="en-US" sz="1600" dirty="0">
                <a:latin typeface="Times New Roman" pitchFamily="18" charset="0"/>
                <a:cs typeface="Times New Roman" pitchFamily="18" charset="0"/>
                <a:hlinkClick r:id="rId4"/>
              </a:rPr>
              <a:t>http://dx.doi.org/10.24018/ejece.2021.5.2.318</a:t>
            </a:r>
            <a:r>
              <a:rPr lang="en-US" sz="1600" dirty="0">
                <a:latin typeface="Times New Roman" pitchFamily="18" charset="0"/>
                <a:cs typeface="Times New Roman" pitchFamily="18" charset="0"/>
              </a:rPr>
              <a:t> ) [3] |</a:t>
            </a:r>
          </a:p>
        </p:txBody>
      </p:sp>
      <p:sp>
        <p:nvSpPr>
          <p:cNvPr id="4" name="Slide Number Placeholder 3"/>
          <p:cNvSpPr>
            <a:spLocks noGrp="1"/>
          </p:cNvSpPr>
          <p:nvPr>
            <p:ph type="sldNum" sz="quarter" idx="12"/>
          </p:nvPr>
        </p:nvSpPr>
        <p:spPr>
          <a:xfrm>
            <a:off x="8153400" y="6356350"/>
            <a:ext cx="990600" cy="365125"/>
          </a:xfrm>
        </p:spPr>
        <p:txBody>
          <a:bodyPr/>
          <a:lstStyle/>
          <a:p>
            <a:fld id="{B6F15528-21DE-4FAA-801E-634DDDAF4B2B}" type="slidenum">
              <a:rPr lang="en-US" smtClean="0"/>
              <a:pPr/>
              <a:t>21</a:t>
            </a:fld>
            <a:endParaRPr lang="en-US" dirty="0"/>
          </a:p>
        </p:txBody>
      </p:sp>
      <p:pic>
        <p:nvPicPr>
          <p:cNvPr id="6" name="Picture 5" descr="E:\Shiva\VTU-logo.png"/>
          <p:cNvPicPr/>
          <p:nvPr/>
        </p:nvPicPr>
        <p:blipFill>
          <a:blip r:embed="rId5" cstate="print"/>
          <a:srcRect/>
          <a:stretch>
            <a:fillRect/>
          </a:stretch>
        </p:blipFill>
        <p:spPr bwMode="auto">
          <a:xfrm>
            <a:off x="7851087" y="13059"/>
            <a:ext cx="1292913" cy="1533525"/>
          </a:xfrm>
          <a:prstGeom prst="rect">
            <a:avLst/>
          </a:prstGeom>
          <a:noFill/>
          <a:ln w="9525">
            <a:noFill/>
            <a:miter lim="800000"/>
            <a:headEnd/>
            <a:tailEnd/>
          </a:ln>
        </p:spPr>
      </p:pic>
      <p:pic>
        <p:nvPicPr>
          <p:cNvPr id="8" name="Picture 7"/>
          <p:cNvPicPr/>
          <p:nvPr/>
        </p:nvPicPr>
        <p:blipFill>
          <a:blip r:embed="rId6"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4E166-8C89-C798-F5C8-4A528AEFC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F952B-0757-64F0-5D90-F87E076EE022}"/>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8356C9-35AA-D739-2835-C738AD3B7D20}"/>
              </a:ext>
            </a:extLst>
          </p:cNvPr>
          <p:cNvSpPr>
            <a:spLocks noGrp="1"/>
          </p:cNvSpPr>
          <p:nvPr>
            <p:ph idx="1"/>
          </p:nvPr>
        </p:nvSpPr>
        <p:spPr>
          <a:xfrm>
            <a:off x="431390" y="1333500"/>
            <a:ext cx="8229600" cy="4525963"/>
          </a:xfrm>
        </p:spPr>
        <p:txBody>
          <a:bodyPr>
            <a:noAutofit/>
          </a:bodyPr>
          <a:lstStyle/>
          <a:p>
            <a:pPr marL="0" indent="0">
              <a:lnSpc>
                <a:spcPct val="150000"/>
              </a:lnSpc>
              <a:buNone/>
            </a:pPr>
            <a:r>
              <a:rPr lang="en-US" sz="1800" dirty="0">
                <a:latin typeface="Times New Roman" panose="02020603050405020304" pitchFamily="18" charset="0"/>
                <a:cs typeface="Times New Roman" pitchFamily="18" charset="0"/>
              </a:rPr>
              <a:t>| RFID Based E-Tourist Guide | Mangesh Ahire, Rahul Kotwal, Raj </a:t>
            </a:r>
            <a:r>
              <a:rPr lang="en-US" sz="1800" dirty="0" err="1">
                <a:latin typeface="Times New Roman" panose="02020603050405020304" pitchFamily="18" charset="0"/>
                <a:cs typeface="Times New Roman" pitchFamily="18" charset="0"/>
              </a:rPr>
              <a:t>Sutare</a:t>
            </a:r>
            <a:r>
              <a:rPr lang="en-US" sz="1800" dirty="0">
                <a:latin typeface="Times New Roman" panose="02020603050405020304" pitchFamily="18" charset="0"/>
                <a:cs typeface="Times New Roman" pitchFamily="18" charset="0"/>
              </a:rPr>
              <a:t>, Sagar Kambale, Abhay Gaidhani | International Research Journal of Engineering and Technology (IRJET), Volume 8, Issue 3, March 2021. Link: [www.irjet.net](</a:t>
            </a:r>
            <a:r>
              <a:rPr lang="en-US" sz="1800" dirty="0">
                <a:latin typeface="Times New Roman" panose="02020603050405020304" pitchFamily="18" charset="0"/>
                <a:cs typeface="Times New Roman" pitchFamily="18" charset="0"/>
                <a:hlinkClick r:id="rId2"/>
              </a:rPr>
              <a:t>https://www.irjet.net</a:t>
            </a:r>
            <a:r>
              <a:rPr lang="en-US" sz="1800" dirty="0">
                <a:latin typeface="Times New Roman" panose="02020603050405020304" pitchFamily="18" charset="0"/>
                <a:cs typeface="Times New Roman" pitchFamily="18" charset="0"/>
              </a:rPr>
              <a:t> ) [4] |</a:t>
            </a:r>
          </a:p>
          <a:p>
            <a:pPr marL="0" indent="0">
              <a:lnSpc>
                <a:spcPct val="150000"/>
              </a:lnSpc>
              <a:buNone/>
            </a:pPr>
            <a:r>
              <a:rPr lang="en-US" sz="1800" dirty="0">
                <a:latin typeface="Times New Roman" panose="02020603050405020304" pitchFamily="18" charset="0"/>
                <a:cs typeface="Times New Roman" pitchFamily="18" charset="0"/>
              </a:rPr>
              <a:t>The title of the paper is "Indoor Heading Direction Estimation Using RF </a:t>
            </a:r>
            <a:r>
              <a:rPr lang="en-US" sz="1800" dirty="0" err="1">
                <a:latin typeface="Times New Roman" panose="02020603050405020304" pitchFamily="18" charset="0"/>
                <a:cs typeface="Times New Roman" pitchFamily="18" charset="0"/>
              </a:rPr>
              <a:t>Signals."The</a:t>
            </a:r>
            <a:r>
              <a:rPr lang="en-US" sz="1800" dirty="0">
                <a:latin typeface="Times New Roman" panose="02020603050405020304" pitchFamily="18" charset="0"/>
                <a:cs typeface="Times New Roman" pitchFamily="18" charset="0"/>
              </a:rPr>
              <a:t> authors are Yusen Fan, Feng Zhang, </a:t>
            </a:r>
            <a:r>
              <a:rPr lang="en-US" sz="1800" dirty="0" err="1">
                <a:latin typeface="Times New Roman" panose="02020603050405020304" pitchFamily="18" charset="0"/>
                <a:cs typeface="Times New Roman" pitchFamily="18" charset="0"/>
              </a:rPr>
              <a:t>Chenshu</a:t>
            </a:r>
            <a:r>
              <a:rPr lang="en-US" sz="1800" dirty="0">
                <a:latin typeface="Times New Roman" panose="02020603050405020304" pitchFamily="18" charset="0"/>
                <a:cs typeface="Times New Roman" pitchFamily="18" charset="0"/>
              </a:rPr>
              <a:t> Wu, Beibei Wang, and K. J. Ray </a:t>
            </a:r>
            <a:r>
              <a:rPr lang="en-US" sz="1800" dirty="0" err="1">
                <a:latin typeface="Times New Roman" panose="02020603050405020304" pitchFamily="18" charset="0"/>
                <a:cs typeface="Times New Roman" pitchFamily="18" charset="0"/>
              </a:rPr>
              <a:t>Liu.This</a:t>
            </a:r>
            <a:r>
              <a:rPr lang="en-US" sz="1800" dirty="0">
                <a:latin typeface="Times New Roman" panose="02020603050405020304" pitchFamily="18" charset="0"/>
                <a:cs typeface="Times New Roman" pitchFamily="18" charset="0"/>
              </a:rPr>
              <a:t> paper is published in the proceedings of the IEEE International Conference on Acoustics, Speech, and Signal Processing (ICASSP) 2020. Link : </a:t>
            </a:r>
            <a:r>
              <a:rPr lang="en-US" sz="1800" dirty="0">
                <a:latin typeface="Times New Roman" panose="02020603050405020304" pitchFamily="18" charset="0"/>
                <a:cs typeface="Times New Roman" pitchFamily="18" charset="0"/>
                <a:hlinkClick r:id="rId3"/>
              </a:rPr>
              <a:t>https://ieeexplore.ieee.org/document/9053033</a:t>
            </a:r>
            <a:r>
              <a:rPr lang="en-US" sz="1800" dirty="0">
                <a:latin typeface="Times New Roman" panose="02020603050405020304" pitchFamily="18" charset="0"/>
                <a:cs typeface="Times New Roman" pitchFamily="18" charset="0"/>
              </a:rPr>
              <a:t> [5]|</a:t>
            </a:r>
          </a:p>
        </p:txBody>
      </p:sp>
      <p:sp>
        <p:nvSpPr>
          <p:cNvPr id="4" name="Slide Number Placeholder 3">
            <a:extLst>
              <a:ext uri="{FF2B5EF4-FFF2-40B4-BE49-F238E27FC236}">
                <a16:creationId xmlns:a16="http://schemas.microsoft.com/office/drawing/2014/main" id="{625B2D89-7A2A-1316-5732-1D959076261D}"/>
              </a:ext>
            </a:extLst>
          </p:cNvPr>
          <p:cNvSpPr>
            <a:spLocks noGrp="1"/>
          </p:cNvSpPr>
          <p:nvPr>
            <p:ph type="sldNum" sz="quarter" idx="12"/>
          </p:nvPr>
        </p:nvSpPr>
        <p:spPr>
          <a:xfrm>
            <a:off x="8153400" y="6356350"/>
            <a:ext cx="990600" cy="365125"/>
          </a:xfrm>
        </p:spPr>
        <p:txBody>
          <a:bodyPr/>
          <a:lstStyle/>
          <a:p>
            <a:fld id="{B6F15528-21DE-4FAA-801E-634DDDAF4B2B}" type="slidenum">
              <a:rPr lang="en-US" smtClean="0"/>
              <a:pPr/>
              <a:t>22</a:t>
            </a:fld>
            <a:endParaRPr lang="en-US" dirty="0"/>
          </a:p>
        </p:txBody>
      </p:sp>
      <p:pic>
        <p:nvPicPr>
          <p:cNvPr id="6" name="Picture 5" descr="E:\Shiva\VTU-logo.png">
            <a:extLst>
              <a:ext uri="{FF2B5EF4-FFF2-40B4-BE49-F238E27FC236}">
                <a16:creationId xmlns:a16="http://schemas.microsoft.com/office/drawing/2014/main" id="{DE55BDFD-8E5D-F9B0-F241-ED3F53CB37D9}"/>
              </a:ext>
            </a:extLst>
          </p:cNvPr>
          <p:cNvPicPr/>
          <p:nvPr/>
        </p:nvPicPr>
        <p:blipFill>
          <a:blip r:embed="rId4" cstate="print"/>
          <a:srcRect/>
          <a:stretch>
            <a:fillRect/>
          </a:stretch>
        </p:blipFill>
        <p:spPr bwMode="auto">
          <a:xfrm>
            <a:off x="7851087" y="13059"/>
            <a:ext cx="1292913" cy="1533525"/>
          </a:xfrm>
          <a:prstGeom prst="rect">
            <a:avLst/>
          </a:prstGeom>
          <a:noFill/>
          <a:ln w="9525">
            <a:noFill/>
            <a:miter lim="800000"/>
            <a:headEnd/>
            <a:tailEnd/>
          </a:ln>
        </p:spPr>
      </p:pic>
      <p:pic>
        <p:nvPicPr>
          <p:cNvPr id="8" name="Picture 7">
            <a:extLst>
              <a:ext uri="{FF2B5EF4-FFF2-40B4-BE49-F238E27FC236}">
                <a16:creationId xmlns:a16="http://schemas.microsoft.com/office/drawing/2014/main" id="{CE4388DB-C8DE-CFB7-7B0C-631B4C130290}"/>
              </a:ext>
            </a:extLst>
          </p:cNvPr>
          <p:cNvPicPr/>
          <p:nvPr/>
        </p:nvPicPr>
        <p:blipFill>
          <a:blip r:embed="rId5"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extLst>
      <p:ext uri="{BB962C8B-B14F-4D97-AF65-F5344CB8AC3E}">
        <p14:creationId xmlns:p14="http://schemas.microsoft.com/office/powerpoint/2010/main" val="346351660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chor="ctr">
            <a:normAutofit/>
          </a:bodyPr>
          <a:lstStyle/>
          <a:p>
            <a:pPr algn="ctr">
              <a:buNone/>
            </a:pPr>
            <a:r>
              <a:rPr lang="en-IN" sz="11500" dirty="0">
                <a:latin typeface="Times New Roman" pitchFamily="18" charset="0"/>
                <a:cs typeface="Times New Roman" pitchFamily="18" charset="0"/>
              </a:rPr>
              <a:t>Thank You</a:t>
            </a:r>
            <a:endParaRPr lang="en-US" sz="115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pic>
        <p:nvPicPr>
          <p:cNvPr id="6" name="Picture 5" descr="E:\Shiva\VTU-logo.png"/>
          <p:cNvPicPr/>
          <p:nvPr/>
        </p:nvPicPr>
        <p:blipFill>
          <a:blip r:embed="rId2" cstate="print"/>
          <a:srcRect/>
          <a:stretch>
            <a:fillRect/>
          </a:stretch>
        </p:blipFill>
        <p:spPr bwMode="auto">
          <a:xfrm>
            <a:off x="7848600" y="142875"/>
            <a:ext cx="1292913" cy="1533525"/>
          </a:xfrm>
          <a:prstGeom prst="rect">
            <a:avLst/>
          </a:prstGeom>
          <a:noFill/>
          <a:ln w="9525">
            <a:noFill/>
            <a:miter lim="800000"/>
            <a:headEnd/>
            <a:tailEnd/>
          </a:ln>
        </p:spPr>
      </p:pic>
      <p:pic>
        <p:nvPicPr>
          <p:cNvPr id="8" name="Picture 7"/>
          <p:cNvPicPr/>
          <p:nvPr/>
        </p:nvPicPr>
        <p:blipFill>
          <a:blip r:embed="rId3" cstate="print">
            <a:extLst>
              <a:ext uri="{28A0092B-C50C-407E-A947-70E740481C1C}">
                <a14:useLocalDpi xmlns:a14="http://schemas.microsoft.com/office/drawing/2010/main" val="0"/>
              </a:ext>
            </a:extLst>
          </a:blip>
          <a:srcRect l="6090" t="13725" r="67789" b="14902"/>
          <a:stretch>
            <a:fillRect/>
          </a:stretch>
        </p:blipFill>
        <p:spPr>
          <a:xfrm>
            <a:off x="228600" y="152400"/>
            <a:ext cx="1057799" cy="11811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2123</Words>
  <Application>Microsoft Office PowerPoint</Application>
  <PresentationFormat>On-screen Show (4:3)</PresentationFormat>
  <Paragraphs>218</Paragraphs>
  <Slides>23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PowerPoint Presentation</vt:lpstr>
      <vt:lpstr>Contents</vt:lpstr>
      <vt:lpstr>Introduction</vt:lpstr>
      <vt:lpstr>Literature Survey</vt:lpstr>
      <vt:lpstr>Literature Survey</vt:lpstr>
      <vt:lpstr>Literature Survey</vt:lpstr>
      <vt:lpstr>Literature Survey</vt:lpstr>
      <vt:lpstr>Literature Survey</vt:lpstr>
      <vt:lpstr>Problem Statement &amp;  Solution strategy</vt:lpstr>
      <vt:lpstr>Objectives</vt:lpstr>
      <vt:lpstr>Methodology</vt:lpstr>
      <vt:lpstr>Methodology</vt:lpstr>
      <vt:lpstr>Methodology</vt:lpstr>
      <vt:lpstr>Methodology</vt:lpstr>
      <vt:lpstr>Methodology</vt:lpstr>
      <vt:lpstr>Flowchart of the Program</vt:lpstr>
      <vt:lpstr>Result</vt:lpstr>
      <vt:lpstr>Result</vt:lpstr>
      <vt:lpstr>Result</vt:lpstr>
      <vt:lpstr>Conclusion </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GSSS</dc:creator>
  <cp:lastModifiedBy>Keerthana G</cp:lastModifiedBy>
  <cp:revision>80</cp:revision>
  <dcterms:created xsi:type="dcterms:W3CDTF">2006-08-16T00:00:00Z</dcterms:created>
  <dcterms:modified xsi:type="dcterms:W3CDTF">2025-11-30T09:19:52Z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26FCC088C4CA48BEAA59B501AB7F0EEA</vt:lpwstr>
  </property>
  <property fmtid="{D5CDD505-2E9C-101B-9397-08002B2CF9AE}" pid="3" name="KSOProductBuildVer">
    <vt:lpwstr>1033-11.2.0.11417</vt:lpwstr>
  </property>
</Properties>
</file>